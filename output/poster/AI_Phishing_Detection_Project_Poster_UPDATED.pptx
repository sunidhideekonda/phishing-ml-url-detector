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826a7c7444d36" /><Relationship Type="http://schemas.openxmlformats.org/officeDocument/2006/relationships/extended-properties" Target="/docProps/app.xml" Id="R7e9f09d4e02f467b" /><Relationship Type="http://schemas.openxmlformats.org/officeDocument/2006/relationships/officeDocument" Target="/ppt/presentation.xml" Id="R7b2fc6479d7f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c53fa76aa24579"/>
  </p:sldMasterIdLst>
  <p:notesMasterIdLst>
    <p:notesMasterId xmlns:r="http://schemas.openxmlformats.org/officeDocument/2006/relationships" r:id="Rd46f529e5b1c4c5f"/>
  </p:notesMasterIdLst>
  <p:sldIdLst>
    <p:sldId xmlns:r="http://schemas.openxmlformats.org/officeDocument/2006/relationships" id="256" r:id="R175d128bd7d8434f"/>
  </p:sldIdLst>
  <p:sldSz cx="30275213" cy="42803763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df5b1bcda04832" /><Relationship Type="http://schemas.openxmlformats.org/officeDocument/2006/relationships/slideMaster" Target="/ppt/slideMasters/slideMaster1.xml" Id="R45c53fa76aa24579" /><Relationship Type="http://schemas.openxmlformats.org/officeDocument/2006/relationships/notesMaster" Target="/ppt/notesMasters/notesMaster1.xml" Id="Rd46f529e5b1c4c5f" /><Relationship Type="http://schemas.openxmlformats.org/officeDocument/2006/relationships/presProps" Target="/ppt/presProps.xml" Id="Rf89f07ac89a944fd" /><Relationship Type="http://schemas.openxmlformats.org/officeDocument/2006/relationships/viewProps" Target="/ppt/viewProps.xml" Id="R941f740a09254716" /><Relationship Type="http://schemas.openxmlformats.org/officeDocument/2006/relationships/tableStyles" Target="/ppt/tableStyles.xml" Id="R0d61dd83bf89455f" /><Relationship Type="http://schemas.openxmlformats.org/officeDocument/2006/relationships/slide" Target="/ppt/slides/slide1.xml" Id="R175d128bd7d8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b845ab86f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Yel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5046263954ed5" /><Relationship Type="http://schemas.openxmlformats.org/officeDocument/2006/relationships/notesMaster" Target="/ppt/notesMasters/notesMaster1.xml" Id="R9fe0413c90fe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Versioned output refresh, October 13, 2026. Original poster layout, institutional logo, team details, historical tables and left chart retained. Current architecture: src/charcnn_bilstm_model.py and app/inference.py at origin/main 00c15d3. Current/candidate values: docs/evidence/v3_4_evaluation.json, v3_4_protocol.json and charcnn_bilstm_v3_4_metrics.json. Historical metrics remain attributed to their own experiments. 91 tests passed on the production-source documentation branch; 107 was a separate local research-branch run. v3.4 binaries are not included or deployed. WIA is visual inspiration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e9f2cf9d340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bd229a6a749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b6c47f3684c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d8e15437e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f8be790d34d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0bc66acaa4c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696f0907d40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21bb1dfcb43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e0c034c124f2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5b84b9a2f40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ec49deea5445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69b88ba8a4973" /></Relationships>
</file>

<file path=ppt/slideLayouts/slideLayout1.xml><?xml version="1.0" encoding="utf-8"?>
<p:sldLayout xmlns:p="http://schemas.openxmlformats.org/presentationml/2006/main" userDrawn="1">
  <p:cSld name="100CMx140CM templ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1AD5C99-08EA-4144-9D00-70D797134C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23691" y="7585962"/>
            <a:ext cx="14299153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3E81AB36-C752-432F-B363-16C64EE1B65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36213" y="6884938"/>
            <a:ext cx="14287866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Introduction or Abstract</a:t>
            </a:r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42C9AC7-4503-46D0-B607-C83DA1813799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36211" y="18518420"/>
            <a:ext cx="14291358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 Objectives</a:t>
            </a:r>
          </a:p>
        </p:txBody>
      </p:sp>
      <p:sp>
        <p:nvSpPr>
          <p:cNvPr id="2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32D44F8-5A6A-4513-8F37-2BA7BF0D85B0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15353328" y="6884938"/>
            <a:ext cx="14287682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Proposed Methodology</a:t>
            </a:r>
          </a:p>
        </p:txBody>
      </p:sp>
      <p:sp>
        <p:nvSpPr>
          <p:cNvPr id="2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F99DC9-0386-4312-9699-3DDEA7D2597E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15353328" y="7585962"/>
            <a:ext cx="14287682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  <p:sp>
        <p:nvSpPr>
          <p:cNvPr id="2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B540895-348C-47B9-AC29-126B5B4188DB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629167" y="31830857"/>
            <a:ext cx="14283756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 References</a:t>
            </a:r>
          </a:p>
        </p:txBody>
      </p:sp>
      <p:sp>
        <p:nvSpPr>
          <p:cNvPr id="2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3C5E5A5-291E-4DC8-AB50-5A834EC1E1C4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623691" y="32586238"/>
            <a:ext cx="14289232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  <p:sp>
        <p:nvSpPr>
          <p:cNvPr id="2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2D79752-5983-40E3-A233-68EB2480E571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15364404" y="36583483"/>
            <a:ext cx="14276605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Team Details</a:t>
            </a:r>
          </a:p>
        </p:txBody>
      </p:sp>
      <p:sp>
        <p:nvSpPr>
          <p:cNvPr id="3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9EB5AB-106B-4700-9A9A-CB0FD6E4CF64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15353329" y="37358864"/>
            <a:ext cx="14283756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  <p:sp>
        <p:nvSpPr>
          <p:cNvPr id="6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EFED5C8-FB00-4E41-8E37-7B2C5EE82469}"/>
              </a:ext>
            </a:extLst>
          </p:cNvPr>
          <p:cNvSpPr>
            <a:spLocks xmlns:a="http://schemas.openxmlformats.org/drawingml/2006/main" noGrp="1"/>
          </p:cNvSpPr>
          <p:nvPr>
            <p:ph type="body" idx="96" hasCustomPrompt="1"/>
          </p:nvPr>
        </p:nvSpPr>
        <p:spPr>
          <a:xfrm xmlns:a="http://schemas.openxmlformats.org/drawingml/2006/main">
            <a:off x="623691" y="19275662"/>
            <a:ext cx="14300387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  <p:sp>
        <p:nvSpPr>
          <p:cNvPr id="76" name="Text Placeholder 76">
            <a:extLst xmlns:a="http://schemas.openxmlformats.org/drawingml/2006/main">
              <a:ext uri="{FF2B5EF4-FFF2-40B4-BE49-F238E27FC236}">
                <a16:creationId xmlns:a16="http://schemas.microsoft.com/office/drawing/2014/main" id="{D129BAFF-84F7-46E9-9975-DAC613C1005C}"/>
              </a:ext>
            </a:extLst>
          </p:cNvPr>
          <p:cNvSpPr>
            <a:spLocks xmlns:a="http://schemas.openxmlformats.org/drawingml/2006/main" noGrp="1"/>
          </p:cNvSpPr>
          <p:nvPr>
            <p:ph type="body" idx="150" hasCustomPrompt="1"/>
          </p:nvPr>
        </p:nvSpPr>
        <p:spPr>
          <a:xfrm xmlns:a="http://schemas.openxmlformats.org/drawingml/2006/main">
            <a:off x="4090899" y="4110875"/>
            <a:ext cx="22093415" cy="1087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7349" tIns="38675" rIns="77349" bIns="38675">
            <a:normAutofit/>
          </a:bodyPr>
          <a:lstStyle xmlns:a="http://schemas.openxmlformats.org/drawingml/2006/main">
            <a:lvl1pPr marL="0" indent="0" algn="ctr">
              <a:buFontTx/>
              <a:buNone/>
              <a:defRPr sz="5400">
                <a:solidFill>
                  <a:schemeClr val="accent5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 xmlns:a="http://schemas.openxmlformats.org/drawingml/2006/main">
            <a:pPr lvl="0">
              <a:buNone/>
            </a:pPr>
            <a:r>
              <a:t>Click here to add affiliations</a:t>
            </a:r>
          </a:p>
        </p:txBody>
      </p:sp>
      <p:sp>
        <p:nvSpPr>
          <p:cNvPr id="79" name="Text Placeholder 76">
            <a:extLst xmlns:a="http://schemas.openxmlformats.org/drawingml/2006/main">
              <a:ext uri="{FF2B5EF4-FFF2-40B4-BE49-F238E27FC236}">
                <a16:creationId xmlns:a16="http://schemas.microsoft.com/office/drawing/2014/main" id="{BFFAA106-C626-40A0-8EB2-46F1FFC22293}"/>
              </a:ext>
            </a:extLst>
          </p:cNvPr>
          <p:cNvSpPr>
            <a:spLocks xmlns:a="http://schemas.openxmlformats.org/drawingml/2006/main" noGrp="1"/>
          </p:cNvSpPr>
          <p:nvPr>
            <p:ph type="body" idx="151" hasCustomPrompt="1"/>
          </p:nvPr>
        </p:nvSpPr>
        <p:spPr>
          <a:xfrm xmlns:a="http://schemas.openxmlformats.org/drawingml/2006/main">
            <a:off x="4090899" y="2558463"/>
            <a:ext cx="22093415" cy="1262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7349" tIns="38675" rIns="77349" bIns="38675" anchor="t">
            <a:noAutofit/>
          </a:bodyPr>
          <a:lstStyle xmlns:a="http://schemas.openxmlformats.org/drawingml/2006/main">
            <a:lvl1pPr marL="0" indent="0" algn="ctr">
              <a:buFontTx/>
              <a:buNone/>
              <a:defRPr sz="7200">
                <a:solidFill>
                  <a:schemeClr val="accent5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 xmlns:a="http://schemas.openxmlformats.org/drawingml/2006/main">
            <a:pPr lvl="0">
              <a:buNone/>
            </a:pPr>
            <a:r>
              <a:t>Click here to add authors</a:t>
            </a:r>
          </a:p>
        </p:txBody>
      </p:sp>
      <p:sp>
        <p:nvSpPr>
          <p:cNvPr id="80" name="Text Placeholder 76">
            <a:extLst xmlns:a="http://schemas.openxmlformats.org/drawingml/2006/main">
              <a:ext uri="{FF2B5EF4-FFF2-40B4-BE49-F238E27FC236}">
                <a16:creationId xmlns:a16="http://schemas.microsoft.com/office/drawing/2014/main" id="{22942995-BA34-4F24-8055-84EC1C9D4EB6}"/>
              </a:ext>
            </a:extLst>
          </p:cNvPr>
          <p:cNvSpPr>
            <a:spLocks xmlns:a="http://schemas.openxmlformats.org/drawingml/2006/main" noGrp="1"/>
          </p:cNvSpPr>
          <p:nvPr>
            <p:ph type="body" idx="153" hasCustomPrompt="1"/>
          </p:nvPr>
        </p:nvSpPr>
        <p:spPr>
          <a:xfrm xmlns:a="http://schemas.openxmlformats.org/drawingml/2006/main">
            <a:off x="4090899" y="492940"/>
            <a:ext cx="22093415" cy="1775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7349" tIns="38675" rIns="77349" bIns="38675" anchor="t">
            <a:normAutofit/>
          </a:bodyPr>
          <a:lstStyle xmlns:a="http://schemas.openxmlformats.org/drawingml/2006/main">
            <a:lvl1pPr marL="0" indent="0" algn="ctr">
              <a:buFontTx/>
              <a:buNone/>
              <a:defRPr sz="9800" b="1">
                <a:solidFill>
                  <a:schemeClr val="accent5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 xmlns:a="http://schemas.openxmlformats.org/drawingml/2006/main">
            <a:pPr lvl="0">
              <a:buNone/>
            </a:pPr>
            <a:r>
              <a:t>Click here to add title</a:t>
            </a:r>
          </a:p>
        </p:txBody>
      </p:sp>
      <p:sp>
        <p:nvSpPr>
          <p:cNvPr id="2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73CEEE2-ACD9-82CF-397D-77E068323C78}"/>
              </a:ext>
            </a:extLst>
          </p:cNvPr>
          <p:cNvSpPr>
            <a:spLocks xmlns:a="http://schemas.openxmlformats.org/drawingml/2006/main" noGrp="1"/>
          </p:cNvSpPr>
          <p:nvPr>
            <p:ph type="body" idx="154" hasCustomPrompt="1"/>
          </p:nvPr>
        </p:nvSpPr>
        <p:spPr>
          <a:xfrm xmlns:a="http://schemas.openxmlformats.org/drawingml/2006/main">
            <a:off x="15365848" y="24976035"/>
            <a:ext cx="14291358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(click to edit) Experimental Results</a:t>
            </a:r>
          </a:p>
        </p:txBody>
      </p:sp>
      <p:sp>
        <p:nvSpPr>
          <p:cNvPr id="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70220D-428D-0519-8D48-7EA76D1EC56E}"/>
              </a:ext>
            </a:extLst>
          </p:cNvPr>
          <p:cNvSpPr>
            <a:spLocks xmlns:a="http://schemas.openxmlformats.org/drawingml/2006/main" noGrp="1"/>
          </p:cNvSpPr>
          <p:nvPr>
            <p:ph type="body" idx="155" hasCustomPrompt="1"/>
          </p:nvPr>
        </p:nvSpPr>
        <p:spPr>
          <a:xfrm xmlns:a="http://schemas.openxmlformats.org/drawingml/2006/main">
            <a:off x="15353328" y="25733277"/>
            <a:ext cx="14300387" cy="897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23877" tIns="223877" rIns="223877" bIns="223877">
            <a:spAutoFit/>
          </a:bodyPr>
          <a:lstStyle xmlns:a="http://schemas.openxmlformats.org/drawingml/2006/main"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1455191" indent="-559688">
              <a:buNone/>
              <a:defRPr sz="2500">
                <a:latin typeface="Trebuchet MS"/>
                <a:ea typeface="Trebuchet MS"/>
                <a:cs typeface="Trebuchet MS"/>
              </a:defRPr>
            </a:lvl2pPr>
            <a:lvl3pPr marL="2014879" indent="-559688">
              <a:buNone/>
              <a:defRPr sz="2500">
                <a:latin typeface="Trebuchet MS"/>
                <a:ea typeface="Trebuchet MS"/>
                <a:cs typeface="Trebuchet MS"/>
              </a:defRPr>
            </a:lvl3pPr>
            <a:lvl4pPr marL="2630537" indent="-615658">
              <a:buNone/>
              <a:defRPr sz="2500">
                <a:latin typeface="Trebuchet MS"/>
                <a:ea typeface="Trebuchet MS"/>
                <a:cs typeface="Trebuchet MS"/>
              </a:defRPr>
            </a:lvl4pPr>
            <a:lvl5pPr marL="3078288" indent="-447751">
              <a:buNone/>
              <a:defRPr sz="2500">
                <a:latin typeface="Trebuchet MS"/>
                <a:ea typeface="Trebuchet MS"/>
                <a:cs typeface="Trebuchet MS"/>
              </a:defRPr>
            </a:lvl5pPr>
          </a:lstStyle>
          <a:p xmlns:a="http://schemas.openxmlformats.org/drawingml/2006/main">
            <a:pPr lvl="0">
              <a:buNone/>
            </a:pPr>
            <a:r>
              <a:t>Type in or paste your text here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C32E86-9575-4B57-B82C-C9A3795E38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641" y="7005156"/>
            <a:ext cx="25733931" cy="14902051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19865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92E40B-418B-45D2-8BC2-884561233D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84402" y="22481887"/>
            <a:ext cx="22706410" cy="1033433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06375B-A797-41DA-9C74-4E73FB2F2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12AC0-CBF4-4DB3-B5F4-0B92A43298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3F1205-7E6C-4BA1-84A2-B948304F0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4764CC4D-40CA-E106-D750-21DA993E4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03948" y="1560456"/>
            <a:ext cx="16067315" cy="20318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BC3F14C-E222-62E8-2CB0-3C8B8424E14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36213" y="6884938"/>
            <a:ext cx="14287866" cy="724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89551" tIns="89551" rIns="89551" bIns="89551" anchor="ctr">
            <a:spAutoFit/>
          </a:bodyPr>
          <a:lstStyle xmlns:a="http://schemas.openxmlformats.org/drawingml/2006/main"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D6A74B-018E-4814-92E8-A13E5A7BE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65654" y="10671229"/>
            <a:ext cx="26112371" cy="1780517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9865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2707D3-90E3-4FA7-9BAC-34B74CB7F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65654" y="28644846"/>
            <a:ext cx="26112371" cy="936332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B9EC1D-F751-49F1-AE45-7F06AD9A58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F82DD6-0F7F-4A1D-9EC9-86C75D63EF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3F7F3D-482C-4B19-B90C-CF99EFA755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38809C-38A2-4C6D-836F-C77E6318E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CDFCDB-BFC4-4EAB-BEFE-7A39CD80157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081421" y="11394520"/>
            <a:ext cx="12866966" cy="27158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262FC1A-4A56-4413-AA97-1E190EAA44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326826" y="11394520"/>
            <a:ext cx="12866966" cy="27158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77451C-84C2-4C72-AED0-CFADC629C7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B60EF26-2101-41E6-8F65-572D2FCEDC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BA8E47-3C62-4787-9950-07E59CE085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A8502A-62D0-4F37-8BF9-CB0B5BF294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278913"/>
            <a:ext cx="26112371" cy="827341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5F4E05-5CFC-452B-9B67-73FC2912F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5368" y="10492870"/>
            <a:ext cx="12807832" cy="514239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6E45BA4-D510-4126-9BC5-60A827E972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85368" y="15635264"/>
            <a:ext cx="12807832" cy="2299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955DA9B-5694-41B9-8046-9D015222EAA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26828" y="10492870"/>
            <a:ext cx="12870909" cy="514239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AE15E9D-6305-4BE6-9F88-819279C65F2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26828" y="15635264"/>
            <a:ext cx="12870909" cy="2299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D913A98-6255-4B93-A53C-AA1241EBB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648B184-9352-40D9-BB7D-E6641BB9F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E746288-830E-436F-A747-D300A79B9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3940EF-E998-4FC8-BC9F-EB57A814A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0F6B9A5-423E-4CA0-8305-5031C2D868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F7AB1F7-2AD0-4126-9EDB-AA9101164B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033939C-13B8-44F3-B03D-4806BFAC3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A173201-0610-44CF-93A6-10FC834B30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01EC6DD-E8C6-4E86-AD00-481D3B9B00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A58053-0754-4407-B935-F09255A9CB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396362-7762-438B-85C5-677DFA03B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853584"/>
            <a:ext cx="9764544" cy="998754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595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37EC0D-74A6-40CE-B745-1E99D8B67D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0909" y="6162959"/>
            <a:ext cx="15326827" cy="304184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95"/>
            </a:lvl1pPr>
            <a:lvl2pPr>
              <a:buNone/>
              <a:defRPr sz="9271"/>
            </a:lvl2pPr>
            <a:lvl3pPr>
              <a:buNone/>
              <a:defRPr sz="7946"/>
            </a:lvl3pPr>
            <a:lvl4pPr>
              <a:buNone/>
              <a:defRPr sz="6622"/>
            </a:lvl4pPr>
            <a:lvl5pPr>
              <a:buNone/>
              <a:defRPr sz="6622"/>
            </a:lvl5pPr>
            <a:lvl6pPr>
              <a:buNone/>
              <a:defRPr sz="6622"/>
            </a:lvl6pPr>
            <a:lvl7pPr>
              <a:buNone/>
              <a:defRPr sz="6622"/>
            </a:lvl7pPr>
            <a:lvl8pPr>
              <a:buNone/>
              <a:defRPr sz="6622"/>
            </a:lvl8pPr>
            <a:lvl9pPr>
              <a:buNone/>
              <a:defRPr sz="6622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004D71-21AB-4CF5-A66F-D0EB63D428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85364" y="12841129"/>
            <a:ext cx="9764544" cy="237897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6886A9-392F-4D04-A2EA-B38BCEDB3F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8E84CE-C2AE-4D5B-9EF2-824F1E92E9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306384-851B-4C07-8420-E16AEC4DBB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5F8C7A-0863-4F19-9FEF-FD38B1E84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853584"/>
            <a:ext cx="9764544" cy="998754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595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F63EC0-5FF9-46E2-9A03-39FEC85E23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2870909" y="6162959"/>
            <a:ext cx="15326827" cy="3041841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819469-DDF3-46D5-A3C6-270541B84E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85364" y="12841129"/>
            <a:ext cx="9764544" cy="237897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5A711E-6243-4D32-A63B-18F669E6E0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382A1E7-73CB-45A9-A8AB-9D1A1F34BA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5C6014D-E785-4B7A-8B4B-E134FE4816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29CEE0-73F5-4F0A-ADC8-A6D9BAF4B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662613-EE02-4A2D-AFDC-5F7234811A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63C38C-571F-4F81-9B09-5D95CB9D7E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FF2BD7-4D77-44A4-A79F-1E3F937B06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B9D98D-EA05-42FE-BDE5-CF362F028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7ADED01-F273-4C22-AF67-85A61AEA9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65701" y="2278904"/>
            <a:ext cx="6528093" cy="3627421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6B8108-B002-4331-9BD2-79AAE0D28B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1423" y="2278904"/>
            <a:ext cx="19205838" cy="3627421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CBC60D-8D8E-40A0-8F31-14BDC5669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9F2E4B-1E41-49A1-B8D1-5B5650FFBF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5ACEB2-92D8-4023-82D7-EED89D42A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160e1fe8af4627" /><Relationship Type="http://schemas.openxmlformats.org/officeDocument/2006/relationships/slideLayout" Target="/ppt/slideLayouts/slideLayout1.xml" Id="Rdf9ee06f71ce4530" /><Relationship Type="http://schemas.openxmlformats.org/officeDocument/2006/relationships/slideLayout" Target="/ppt/slideLayouts/slideLayout2.xml" Id="R40c4afe5b56c46b1" /><Relationship Type="http://schemas.openxmlformats.org/officeDocument/2006/relationships/slideLayout" Target="/ppt/slideLayouts/slideLayout3.xml" Id="R56abe58c8a064044" /><Relationship Type="http://schemas.openxmlformats.org/officeDocument/2006/relationships/slideLayout" Target="/ppt/slideLayouts/slideLayout4.xml" Id="R6969a84c77d3409f" /><Relationship Type="http://schemas.openxmlformats.org/officeDocument/2006/relationships/slideLayout" Target="/ppt/slideLayouts/slideLayout5.xml" Id="Rc9cfeb9ab5954025" /><Relationship Type="http://schemas.openxmlformats.org/officeDocument/2006/relationships/slideLayout" Target="/ppt/slideLayouts/slideLayout6.xml" Id="R6ce92b6eae4143b8" /><Relationship Type="http://schemas.openxmlformats.org/officeDocument/2006/relationships/slideLayout" Target="/ppt/slideLayouts/slideLayout7.xml" Id="R24c70b6265fd44e2" /><Relationship Type="http://schemas.openxmlformats.org/officeDocument/2006/relationships/slideLayout" Target="/ppt/slideLayouts/slideLayout8.xml" Id="R74a2b68f44084725" /><Relationship Type="http://schemas.openxmlformats.org/officeDocument/2006/relationships/slideLayout" Target="/ppt/slideLayouts/slideLayout9.xml" Id="R80a2a139590543c2" /><Relationship Type="http://schemas.openxmlformats.org/officeDocument/2006/relationships/slideLayout" Target="/ppt/slideLayouts/slideLayout10.xml" Id="R59bc4a3036204111" /><Relationship Type="http://schemas.openxmlformats.org/officeDocument/2006/relationships/slideLayout" Target="/ppt/slideLayouts/slideLayout11.xml" Id="Rb1c4d53d43944d66" /><Relationship Type="http://schemas.openxmlformats.org/officeDocument/2006/relationships/slideLayout" Target="/ppt/slideLayouts/slideLayout12.xml" Id="Rd806486839dc40f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A8BA91F-D13D-46C6-B70A-F94714408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1421" y="2278913"/>
            <a:ext cx="26112371" cy="82734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4BCBC6-910D-4646-AA48-E0D9676C3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1421" y="11394520"/>
            <a:ext cx="26112371" cy="271585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21A501-DD19-4D2E-BB94-CDC1561771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081421" y="39672756"/>
            <a:ext cx="6811923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E70713F-4B5C-AD41-A9C1-0EDA460603EE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067DC2-1CA1-4339-8160-57AC6861DA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028665" y="39672756"/>
            <a:ext cx="10217884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943D7-856A-4AA7-A148-CC34E2932E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381869" y="39672756"/>
            <a:ext cx="6811923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4B3C1C-7ED1-5E4C-8A37-2117C2A4D5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ee06f71ce4530"/>
    <p:sldLayoutId xmlns:r="http://schemas.openxmlformats.org/officeDocument/2006/relationships" id="2147483650" r:id="R40c4afe5b56c46b1"/>
    <p:sldLayoutId xmlns:r="http://schemas.openxmlformats.org/officeDocument/2006/relationships" id="2147483651" r:id="R56abe58c8a064044"/>
    <p:sldLayoutId xmlns:r="http://schemas.openxmlformats.org/officeDocument/2006/relationships" id="2147483652" r:id="R6969a84c77d3409f"/>
    <p:sldLayoutId xmlns:r="http://schemas.openxmlformats.org/officeDocument/2006/relationships" id="2147483653" r:id="Rc9cfeb9ab5954025"/>
    <p:sldLayoutId xmlns:r="http://schemas.openxmlformats.org/officeDocument/2006/relationships" id="2147483654" r:id="R6ce92b6eae4143b8"/>
    <p:sldLayoutId xmlns:r="http://schemas.openxmlformats.org/officeDocument/2006/relationships" id="2147483655" r:id="R24c70b6265fd44e2"/>
    <p:sldLayoutId xmlns:r="http://schemas.openxmlformats.org/officeDocument/2006/relationships" id="2147483656" r:id="R74a2b68f44084725"/>
    <p:sldLayoutId xmlns:r="http://schemas.openxmlformats.org/officeDocument/2006/relationships" id="2147483657" r:id="R80a2a139590543c2"/>
    <p:sldLayoutId xmlns:r="http://schemas.openxmlformats.org/officeDocument/2006/relationships" id="2147483658" r:id="R59bc4a3036204111"/>
    <p:sldLayoutId xmlns:r="http://schemas.openxmlformats.org/officeDocument/2006/relationships" id="2147483659" r:id="Rb1c4d53d43944d66"/>
    <p:sldLayoutId xmlns:r="http://schemas.openxmlformats.org/officeDocument/2006/relationships" id="2147483660" r:id="Rd806486839dc40f7"/>
  </p:sldLayoutIdLst>
  <p:txStyles>
    <p:titleStyle>
      <a:lvl1pPr xmlns:a="http://schemas.openxmlformats.org/drawingml/2006/main" algn="l" defTabSz="3027487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756872" indent="-756872" algn="l" defTabSz="3027487">
        <a:lnSpc>
          <a:spcPct val="90000"/>
        </a:lnSpc>
        <a:spcBef>
          <a:spcPts val="3311"/>
        </a:spcBef>
        <a:buFont typeface="Arial"/>
        <a:buChar char="•"/>
        <a:defRPr sz="927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270615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7946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784359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6622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298102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811846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325589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839333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353076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866820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513743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027487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541230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054974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7568717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082461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0596204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109948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Yel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f9648172436c" /><Relationship Type="http://schemas.openxmlformats.org/officeDocument/2006/relationships/image" Target="/ppt/media/image.png" Id="R698bc8ac0b364c7e" /><Relationship Type="http://schemas.openxmlformats.org/officeDocument/2006/relationships/image" Target="/ppt/media/image2.png" Id="Rf123e802a4114c94" /><Relationship Type="http://schemas.openxmlformats.org/officeDocument/2006/relationships/image" Target="/ppt/media/image3.png" Id="R5cdb24603afe4f32" /><Relationship Type="http://schemas.openxmlformats.org/officeDocument/2006/relationships/image" Target="/ppt/media/image4.png" Id="R193b76c391c9420e" /><Relationship Type="http://schemas.openxmlformats.org/officeDocument/2006/relationships/image" Target="/ppt/media/image5.png" Id="R53430d64320a4f4f" /><Relationship Type="http://schemas.openxmlformats.org/officeDocument/2006/relationships/image" Target="/ppt/media/image6.png" Id="R884ce64e55b44ca9" /><Relationship Type="http://schemas.openxmlformats.org/officeDocument/2006/relationships/image" Target="/ppt/media/image7.png" Id="R9fe5bdfa6f4e4abe" /><Relationship Type="http://schemas.openxmlformats.org/officeDocument/2006/relationships/image" Target="/ppt/media/image8.png" Id="Rf2ef98155cc140ae" /><Relationship Type="http://schemas.openxmlformats.org/officeDocument/2006/relationships/chart" Target="/ppt/slides/charts/chart1.xml" Id="Rfd29c52f3c0f43c8" /><Relationship Type="http://schemas.openxmlformats.org/officeDocument/2006/relationships/chart" Target="/ppt/slides/charts/chart2.xml" Id="R97567d1372714ebd" /><Relationship Type="http://schemas.openxmlformats.org/officeDocument/2006/relationships/notesSlide" Target="/ppt/notesSlides/notesSlide1.xml" Id="R965bbec01b2d49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496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Model Performance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3496" b="1">
              <a:solidFill>
                <a:srgbClr val="102F59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0078B8"/>
            </a:solidFill>
          </c:spPr>
          <c:cat>
            <c:strRef>
              <c:f>'Chart Data'!$A$2:$A$6</c:f>
              <c:strCache>
                <c:ptCount val="5"/>
                <c:pt idx="0">
                  <c:v>LightGBM</c:v>
                </c:pt>
                <c:pt idx="1">
                  <c:v>Char-CNN</c:v>
                </c:pt>
                <c:pt idx="2">
                  <c:v>Ref. 60/40</c:v>
                </c:pt>
                <c:pt idx="3">
                  <c:v>Selected 95/5</c:v>
                </c:pt>
                <c:pt idx="4">
                  <c:v>Robust 95/5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99.5998</c:v>
                </c:pt>
                <c:pt idx="1">
                  <c:v>99.524762</c:v>
                </c:pt>
                <c:pt idx="2">
                  <c:v>99.574787</c:v>
                </c:pt>
                <c:pt idx="3">
                  <c:v>99.524762</c:v>
                </c:pt>
                <c:pt idx="4">
                  <c:v>99.624812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008A75"/>
            </a:solidFill>
          </c:spPr>
          <c:cat>
            <c:strRef>
              <c:f>'Chart Data'!$C$2:$C$6</c:f>
              <c:strCache>
                <c:ptCount val="5"/>
                <c:pt idx="0">
                  <c:v>LightGBM</c:v>
                </c:pt>
                <c:pt idx="1">
                  <c:v>Char-CNN</c:v>
                </c:pt>
                <c:pt idx="2">
                  <c:v>Ref. 60/40</c:v>
                </c:pt>
                <c:pt idx="3">
                  <c:v>Selected 95/5</c:v>
                </c:pt>
                <c:pt idx="4">
                  <c:v>Robust 95/5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99.448622</c:v>
                </c:pt>
                <c:pt idx="1">
                  <c:v>99.047619</c:v>
                </c:pt>
                <c:pt idx="2">
                  <c:v>99.197995</c:v>
                </c:pt>
                <c:pt idx="3">
                  <c:v>99.047619</c:v>
                </c:pt>
                <c:pt idx="4">
                  <c:v>99.298246</c:v>
                </c:pt>
              </c:numCache>
            </c:numRef>
          </c:val>
        </c:ser>
        <c:ser>
          <c:idx val="2"/>
          <c:order val="2"/>
          <c:tx>
            <c:v>ROC-AUC</c:v>
          </c:tx>
          <c:spPr>
            <a:solidFill xmlns:a="http://schemas.openxmlformats.org/drawingml/2006/main">
              <a:srgbClr val="7654AB"/>
            </a:solidFill>
          </c:spPr>
          <c:cat>
            <c:strRef>
              <c:f>'Chart Data'!$E$2:$E$6</c:f>
              <c:strCache>
                <c:ptCount val="5"/>
                <c:pt idx="0">
                  <c:v>LightGBM</c:v>
                </c:pt>
                <c:pt idx="1">
                  <c:v>Char-CNN</c:v>
                </c:pt>
                <c:pt idx="2">
                  <c:v>Ref. 60/40</c:v>
                </c:pt>
                <c:pt idx="3">
                  <c:v>Selected 95/5</c:v>
                </c:pt>
                <c:pt idx="4">
                  <c:v>Robust 95/5</c:v>
                </c:pt>
              </c:strCache>
            </c:str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99.851063</c:v>
                </c:pt>
                <c:pt idx="1">
                  <c:v>99.94482</c:v>
                </c:pt>
                <c:pt idx="2">
                  <c:v>99.891666</c:v>
                </c:pt>
                <c:pt idx="3">
                  <c:v>99.931181</c:v>
                </c:pt>
                <c:pt idx="4">
                  <c:v>99.94502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BD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93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25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63">
              <a:solidFill>
                <a:srgbClr val="2336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False alarms decrease, missed phishing increases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400" b="1">
              <a:solidFill>
                <a:srgbClr val="002060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v3.3 production</c:v>
          </c:tx>
          <c:spPr>
            <a:solidFill xmlns:a="http://schemas.openxmlformats.org/drawingml/2006/main">
              <a:srgbClr val="54789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False positives</c:v>
                </c:pt>
                <c:pt idx="1">
                  <c:v>False negatives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384</c:v>
                </c:pt>
                <c:pt idx="1">
                  <c:v>547</c:v>
                </c:pt>
              </c:numCache>
            </c:numRef>
          </c:val>
        </c:ser>
        <c:ser>
          <c:idx val="1"/>
          <c:order val="1"/>
          <c:tx>
            <c:v>v3.4 candidate</c:v>
          </c:tx>
          <c:spPr>
            <a:solidFill xmlns:a="http://schemas.openxmlformats.org/drawingml/2006/main">
              <a:srgbClr val="C0863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False positives</c:v>
                </c:pt>
                <c:pt idx="1">
                  <c:v>False negatives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324</c:v>
                </c:pt>
                <c:pt idx="1">
                  <c:v>738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FAD7EBE-0DA4-41FA-A7D5-B53F40174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bc8ac0b364c7e"/>
          <a:stretch xmlns:a="http://schemas.openxmlformats.org/drawingml/2006/main"/>
        </p:blipFill>
        <p:spPr>
          <a:xfrm xmlns:a="http://schemas.openxmlformats.org/drawingml/2006/main">
            <a:off x="565137" y="608376"/>
            <a:ext cx="5166970" cy="1911293"/>
          </a:xfrm>
          <a:prstGeom xmlns:a="http://schemas.openxmlformats.org/drawingml/2006/main" prst="rect">
            <a:avLst/>
          </a:prstGeom>
        </p:spPr>
      </p:pic>
      <p:sp>
        <p:nvSpPr>
          <p:cNvPr id="2" name="KLH Bachupally">
            <a:extLst xmlns:a="http://schemas.openxmlformats.org/drawingml/2006/main">
              <a:ext uri="{FF2B5EF4-FFF2-40B4-BE49-F238E27FC236}">
                <a16:creationId xmlns:a16="http://schemas.microsoft.com/office/drawing/2014/main" id="{F1BBD2AA-1A9F-4719-B1D4-6629339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04" y="2784969"/>
            <a:ext cx="5126603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KLH Bachupally</a:t>
            </a:r>
          </a:p>
        </p:txBody>
      </p:sp>
      <p:sp>
        <p:nvSpPr>
          <p:cNvPr id="3" name="AI-Based Phishing Detection System&#10;Using Ensemble Learning">
            <a:extLst xmlns:a="http://schemas.openxmlformats.org/drawingml/2006/main">
              <a:ext uri="{FF2B5EF4-FFF2-40B4-BE49-F238E27FC236}">
                <a16:creationId xmlns:a16="http://schemas.microsoft.com/office/drawing/2014/main" id="{25D9EABE-6695-4DD9-97CF-A3037AB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795" y="363257"/>
            <a:ext cx="23130263" cy="240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63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63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AI-Based Phishing Detection System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63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Sequence Learning and Safe Context Analysis</a:t>
            </a:r>
          </a:p>
        </p:txBody>
      </p:sp>
      <p:sp>
        <p:nvSpPr>
          <p:cNvPr id="4" name="Character-Level CNN + LightGBM with&#10;Adversarial Robustness and Context Analysis">
            <a:extLst xmlns:a="http://schemas.openxmlformats.org/drawingml/2006/main">
              <a:ext uri="{FF2B5EF4-FFF2-40B4-BE49-F238E27FC236}">
                <a16:creationId xmlns:a16="http://schemas.microsoft.com/office/drawing/2014/main" id="{2E23CF46-7ACC-4507-A488-CAA3186D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968" y="2926236"/>
            <a:ext cx="21192649" cy="125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52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CharCNN + BiLSTM + Attention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352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Production v3.3 and Domain-Separated Research Candidate v3.4</a:t>
            </a:r>
          </a:p>
        </p:txBody>
      </p:sp>
      <p:sp>
        <p:nvSpPr>
          <p:cNvPr id="5" name="Students">
            <a:extLst xmlns:a="http://schemas.openxmlformats.org/drawingml/2006/main">
              <a:ext uri="{FF2B5EF4-FFF2-40B4-BE49-F238E27FC236}">
                <a16:creationId xmlns:a16="http://schemas.microsoft.com/office/drawing/2014/main" id="{DB65B07E-D6CE-4E15-8504-85442CC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4480168"/>
            <a:ext cx="6943116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655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D1917-9365-4B39-9D5C-62332E8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5125957"/>
            <a:ext cx="6943116" cy="141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7" name="B.Tech Project  •  KLH CSIT">
            <a:extLst xmlns:a="http://schemas.openxmlformats.org/drawingml/2006/main">
              <a:ext uri="{FF2B5EF4-FFF2-40B4-BE49-F238E27FC236}">
                <a16:creationId xmlns:a16="http://schemas.microsoft.com/office/drawing/2014/main" id="{D6306A27-D851-4EA1-85D6-864894BA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5388310"/>
            <a:ext cx="6943116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32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B.Tech Project  •  KLH CSIT</a:t>
            </a:r>
          </a:p>
        </p:txBody>
      </p:sp>
      <p:sp>
        <p:nvSpPr>
          <p:cNvPr id="8" name="Innovation">
            <a:extLst xmlns:a="http://schemas.openxmlformats.org/drawingml/2006/main">
              <a:ext uri="{FF2B5EF4-FFF2-40B4-BE49-F238E27FC236}">
                <a16:creationId xmlns:a16="http://schemas.microsoft.com/office/drawing/2014/main" id="{AA4F1050-6E44-4A92-B1E0-E4E7BA1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106" y="4480168"/>
            <a:ext cx="6943116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655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7A73B-329C-4AD0-95AC-B329E6E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106" y="5125957"/>
            <a:ext cx="6943116" cy="141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B8"/>
          </a:solidFill>
          <a:ln xmlns:a="http://schemas.openxmlformats.org/drawingml/2006/main" w="0">
            <a:solidFill>
              <a:srgbClr val="0078B8"/>
            </a:solidFill>
            <a:prstDash val="solid"/>
          </a:ln>
        </p:spPr>
      </p:sp>
      <p:sp>
        <p:nvSpPr>
          <p:cNvPr id="10" name="Robustness  •  Context  •  Verified Learning">
            <a:extLst xmlns:a="http://schemas.openxmlformats.org/drawingml/2006/main">
              <a:ext uri="{FF2B5EF4-FFF2-40B4-BE49-F238E27FC236}">
                <a16:creationId xmlns:a16="http://schemas.microsoft.com/office/drawing/2014/main" id="{3E06BFC5-0F47-4C6B-9709-9BD96207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106" y="5388310"/>
            <a:ext cx="6943116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32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Robustness  •  Context  •  Verified Learning</a:t>
            </a:r>
          </a:p>
        </p:txBody>
      </p:sp>
      <p:sp>
        <p:nvSpPr>
          <p:cNvPr id="11" name="Research">
            <a:extLst xmlns:a="http://schemas.openxmlformats.org/drawingml/2006/main">
              <a:ext uri="{FF2B5EF4-FFF2-40B4-BE49-F238E27FC236}">
                <a16:creationId xmlns:a16="http://schemas.microsoft.com/office/drawing/2014/main" id="{D5D17F16-8540-4279-B11D-A80961E9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9074" y="4480168"/>
            <a:ext cx="6943116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655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5C9E4-8239-4B2F-A752-7CA8DD4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9074" y="5125957"/>
            <a:ext cx="6943116" cy="141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B16"/>
          </a:solidFill>
          <a:ln xmlns:a="http://schemas.openxmlformats.org/drawingml/2006/main" w="0">
            <a:solidFill>
              <a:srgbClr val="EFBB16"/>
            </a:solidFill>
            <a:prstDash val="solid"/>
          </a:ln>
        </p:spPr>
      </p:sp>
      <p:sp>
        <p:nvSpPr>
          <p:cNvPr id="13" name="20,000 URLs  •  36 Features  •  Domain Separation">
            <a:extLst xmlns:a="http://schemas.openxmlformats.org/drawingml/2006/main">
              <a:ext uri="{FF2B5EF4-FFF2-40B4-BE49-F238E27FC236}">
                <a16:creationId xmlns:a16="http://schemas.microsoft.com/office/drawing/2014/main" id="{9575BC57-8791-4EBB-A17B-DF51BA1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9074" y="5388310"/>
            <a:ext cx="6943116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5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Versioned Data and Evaluation</a:t>
            </a:r>
          </a:p>
        </p:txBody>
      </p:sp>
      <p:sp>
        <p:nvSpPr>
          <p:cNvPr id="14" name="Impact">
            <a:extLst xmlns:a="http://schemas.openxmlformats.org/drawingml/2006/main">
              <a:ext uri="{FF2B5EF4-FFF2-40B4-BE49-F238E27FC236}">
                <a16:creationId xmlns:a16="http://schemas.microsoft.com/office/drawing/2014/main" id="{FB59E049-61DE-4F7C-BCBF-46AC61F2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6043" y="4480168"/>
            <a:ext cx="6943116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655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655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5F2C0-869B-445B-AFA8-E64E0A5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6043" y="5125957"/>
            <a:ext cx="6943116" cy="141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0">
            <a:solidFill>
              <a:srgbClr val="76B82A"/>
            </a:solidFill>
            <a:prstDash val="solid"/>
          </a:ln>
        </p:spPr>
      </p:sp>
      <p:sp>
        <p:nvSpPr>
          <p:cNvPr id="16" name="Real-Time Detection  •  FastAPI  •  Web Demo">
            <a:extLst xmlns:a="http://schemas.openxmlformats.org/drawingml/2006/main">
              <a:ext uri="{FF2B5EF4-FFF2-40B4-BE49-F238E27FC236}">
                <a16:creationId xmlns:a16="http://schemas.microsoft.com/office/drawing/2014/main" id="{72FC638F-3583-42B3-B372-3D9FE5B4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6043" y="5388310"/>
            <a:ext cx="6943116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32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32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Real-Time Detection  •  FastAPI  •  Web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8B416-F0FB-40AE-A530-6888261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92E9B-EC79-4ED3-ADC3-01E53D6A2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3e802a4114c94"/>
          <a:stretch xmlns:a="http://schemas.openxmlformats.org/drawingml/2006/main"/>
        </p:blipFill>
        <p:spPr>
          <a:xfrm xmlns:a="http://schemas.openxmlformats.org/drawingml/2006/main">
            <a:off x="726636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19" name="Python">
            <a:extLst xmlns:a="http://schemas.openxmlformats.org/drawingml/2006/main">
              <a:ext uri="{FF2B5EF4-FFF2-40B4-BE49-F238E27FC236}">
                <a16:creationId xmlns:a16="http://schemas.microsoft.com/office/drawing/2014/main" id="{AD1803EA-75E9-4F73-8156-15C1223F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93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2F059-C18A-4FF8-9FB2-30D2282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860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841F5-4495-4766-8FFA-AFE6E7C10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24603afe4f32"/>
          <a:stretch xmlns:a="http://schemas.openxmlformats.org/drawingml/2006/main"/>
        </p:blipFill>
        <p:spPr>
          <a:xfrm xmlns:a="http://schemas.openxmlformats.org/drawingml/2006/main">
            <a:off x="3996359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22" name="PyTorch">
            <a:extLst xmlns:a="http://schemas.openxmlformats.org/drawingml/2006/main">
              <a:ext uri="{FF2B5EF4-FFF2-40B4-BE49-F238E27FC236}">
                <a16:creationId xmlns:a16="http://schemas.microsoft.com/office/drawing/2014/main" id="{D759585A-D91B-4170-9D0C-FEB7A61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016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4130E-50F4-44EC-A501-85243A20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583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5B6BA-84D3-444C-ACB0-F0160B82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64" y="6262396"/>
            <a:ext cx="135397" cy="241751"/>
          </a:xfrm>
          <a:custGeom xmlns:a="http://schemas.openxmlformats.org/drawingml/2006/main">
            <a:pathLst>
              <a:path w="135397" h="241751">
                <a:moveTo>
                  <a:pt x="135397" y="0"/>
                </a:moveTo>
                <a:lnTo>
                  <a:pt x="135397" y="106370"/>
                </a:lnTo>
                <a:lnTo>
                  <a:pt x="0" y="106370"/>
                </a:lnTo>
                <a:lnTo>
                  <a:pt x="0" y="241751"/>
                </a:lnTo>
              </a:path>
            </a:pathLst>
          </a:custGeom>
          <a:noFill xmlns:a="http://schemas.openxmlformats.org/drawingml/2006/main"/>
          <a:ln xmlns:a="http://schemas.openxmlformats.org/drawingml/2006/main" w="21277">
            <a:solidFill>
              <a:srgbClr val="008A7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E4F76-6FAE-47CC-98E7-95989B4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161" y="6368767"/>
            <a:ext cx="145069" cy="135380"/>
          </a:xfrm>
          <a:custGeom xmlns:a="http://schemas.openxmlformats.org/drawingml/2006/main">
            <a:pathLst>
              <a:path w="145069" h="135380">
                <a:moveTo>
                  <a:pt x="0" y="0"/>
                </a:moveTo>
                <a:lnTo>
                  <a:pt x="145069" y="0"/>
                </a:lnTo>
                <a:lnTo>
                  <a:pt x="145069" y="135380"/>
                </a:lnTo>
              </a:path>
            </a:pathLst>
          </a:custGeom>
          <a:noFill xmlns:a="http://schemas.openxmlformats.org/drawingml/2006/main"/>
          <a:ln xmlns:a="http://schemas.openxmlformats.org/drawingml/2006/main" w="21277">
            <a:solidFill>
              <a:srgbClr val="008A7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2C42D-FFE3-43BB-A9D9-55615630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476" y="6194706"/>
            <a:ext cx="87041" cy="87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342">
            <a:solidFill>
              <a:srgbClr val="008A7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69C66-2AE4-4FA8-9FF9-65B4F1C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065" y="6504147"/>
            <a:ext cx="135397" cy="106370"/>
          </a:xfrm>
          <a:prstGeom xmlns:a="http://schemas.openxmlformats.org/drawingml/2006/main" prst="roundRect">
            <a:avLst>
              <a:gd name="adj" fmla="val 37949"/>
            </a:avLst>
          </a:prstGeom>
          <a:noFill xmlns:a="http://schemas.openxmlformats.org/drawingml/2006/main"/>
          <a:ln xmlns:a="http://schemas.openxmlformats.org/drawingml/2006/main" w="19342">
            <a:solidFill>
              <a:srgbClr val="008A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8CCD9-F618-4C0F-8A31-92D79236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31" y="6504147"/>
            <a:ext cx="135397" cy="106370"/>
          </a:xfrm>
          <a:prstGeom xmlns:a="http://schemas.openxmlformats.org/drawingml/2006/main" prst="roundRect">
            <a:avLst>
              <a:gd name="adj" fmla="val 37949"/>
            </a:avLst>
          </a:prstGeom>
          <a:noFill xmlns:a="http://schemas.openxmlformats.org/drawingml/2006/main"/>
          <a:ln xmlns:a="http://schemas.openxmlformats.org/drawingml/2006/main" w="19342">
            <a:solidFill>
              <a:srgbClr val="008A75"/>
            </a:solidFill>
            <a:prstDash val="solid"/>
          </a:ln>
        </p:spPr>
      </p:sp>
      <p:sp>
        <p:nvSpPr>
          <p:cNvPr id="29" name="LightGBM">
            <a:extLst xmlns:a="http://schemas.openxmlformats.org/drawingml/2006/main">
              <a:ext uri="{FF2B5EF4-FFF2-40B4-BE49-F238E27FC236}">
                <a16:creationId xmlns:a16="http://schemas.microsoft.com/office/drawing/2014/main" id="{7D848103-224A-4EBC-8E32-897F9639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739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LightGBM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4B6A06-1667-43D1-998B-2C0065ED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306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5252F-9C1F-42C9-99B4-9928B0844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b76c391c9420e"/>
          <a:stretch xmlns:a="http://schemas.openxmlformats.org/drawingml/2006/main"/>
        </p:blipFill>
        <p:spPr>
          <a:xfrm xmlns:a="http://schemas.openxmlformats.org/drawingml/2006/main">
            <a:off x="10535805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32" name="FastAPI">
            <a:extLst xmlns:a="http://schemas.openxmlformats.org/drawingml/2006/main">
              <a:ext uri="{FF2B5EF4-FFF2-40B4-BE49-F238E27FC236}">
                <a16:creationId xmlns:a16="http://schemas.microsoft.com/office/drawing/2014/main" id="{335FA2DE-7354-44DB-A7E1-D4086A9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462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8F6B3B-E519-4151-8929-0EE74CF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029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151C4-011C-41A9-A536-E31F59217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30d64320a4f4f"/>
          <a:stretch xmlns:a="http://schemas.openxmlformats.org/drawingml/2006/main"/>
        </p:blipFill>
        <p:spPr>
          <a:xfrm xmlns:a="http://schemas.openxmlformats.org/drawingml/2006/main">
            <a:off x="13805528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35" name="scikit-learn">
            <a:extLst xmlns:a="http://schemas.openxmlformats.org/drawingml/2006/main">
              <a:ext uri="{FF2B5EF4-FFF2-40B4-BE49-F238E27FC236}">
                <a16:creationId xmlns:a16="http://schemas.microsoft.com/office/drawing/2014/main" id="{946126E8-37FF-4092-8374-566B6F3A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185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35C8B-FD7C-47AE-B10C-8211B77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3752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AAF068-4173-4CE9-BA0A-7A190673E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ce64e55b44ca9"/>
          <a:stretch xmlns:a="http://schemas.openxmlformats.org/drawingml/2006/main"/>
        </p:blipFill>
        <p:spPr>
          <a:xfrm xmlns:a="http://schemas.openxmlformats.org/drawingml/2006/main">
            <a:off x="17075251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38" name="Apple MPS">
            <a:extLst xmlns:a="http://schemas.openxmlformats.org/drawingml/2006/main">
              <a:ext uri="{FF2B5EF4-FFF2-40B4-BE49-F238E27FC236}">
                <a16:creationId xmlns:a16="http://schemas.microsoft.com/office/drawing/2014/main" id="{7565FD09-5545-4DAE-A6BE-F37887F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0908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Apple MPS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75AE4E-A14C-41A3-A9C2-0B9A5FA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75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7FFF4A-E88B-46BD-B92A-8486B8131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5bdfa6f4e4abe"/>
          <a:stretch xmlns:a="http://schemas.openxmlformats.org/drawingml/2006/main"/>
        </p:blipFill>
        <p:spPr>
          <a:xfrm xmlns:a="http://schemas.openxmlformats.org/drawingml/2006/main">
            <a:off x="20344974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41" name="Vercel">
            <a:extLst xmlns:a="http://schemas.openxmlformats.org/drawingml/2006/main">
              <a:ext uri="{FF2B5EF4-FFF2-40B4-BE49-F238E27FC236}">
                <a16:creationId xmlns:a16="http://schemas.microsoft.com/office/drawing/2014/main" id="{D419D15C-63AF-4C5D-A05D-E7727D9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631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29292D-6799-4731-B786-0DA3158D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3198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F59A92-2E1E-4103-8DD6-0E828473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4666" y="6175366"/>
            <a:ext cx="464220" cy="464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0367">
            <a:solidFill>
              <a:srgbClr val="008A7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F6A0D3-F8FF-499A-8653-5E61571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1379" y="6301076"/>
            <a:ext cx="270795" cy="203071"/>
          </a:xfrm>
          <a:custGeom xmlns:a="http://schemas.openxmlformats.org/drawingml/2006/main">
            <a:pathLst>
              <a:path w="270795" h="203071">
                <a:moveTo>
                  <a:pt x="0" y="106370"/>
                </a:moveTo>
                <a:lnTo>
                  <a:pt x="106384" y="203071"/>
                </a:lnTo>
                <a:lnTo>
                  <a:pt x="270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77">
            <a:solidFill>
              <a:srgbClr val="008A75"/>
            </a:solidFill>
          </a:ln>
        </p:spPr>
      </p:sp>
      <p:sp>
        <p:nvSpPr>
          <p:cNvPr id="45" name="48 tests*">
            <a:extLst xmlns:a="http://schemas.openxmlformats.org/drawingml/2006/main">
              <a:ext uri="{FF2B5EF4-FFF2-40B4-BE49-F238E27FC236}">
                <a16:creationId xmlns:a16="http://schemas.microsoft.com/office/drawing/2014/main" id="{0C2CAB96-C44C-443B-B7C7-41C2D5A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0354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91 tests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C0ACDC-FF7F-4AC0-9BAA-D82D934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2921" y="6074461"/>
            <a:ext cx="2987154" cy="645790"/>
          </a:xfrm>
          <a:prstGeom xmlns:a="http://schemas.openxmlformats.org/drawingml/2006/main" prst="roundRect">
            <a:avLst>
              <a:gd name="adj" fmla="val 12502"/>
            </a:avLst>
          </a:prstGeom>
          <a:solidFill xmlns:a="http://schemas.openxmlformats.org/drawingml/2006/main">
            <a:srgbClr val="F9FBFE"/>
          </a:solidFill>
          <a:ln xmlns:a="http://schemas.openxmlformats.org/drawingml/2006/main" w="16147">
            <a:solidFill>
              <a:srgbClr val="D3DDE7"/>
            </a:solidFill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7A0219-3170-4D49-94CB-16AF24BE9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f98155cc140ae"/>
          <a:stretch xmlns:a="http://schemas.openxmlformats.org/drawingml/2006/main"/>
        </p:blipFill>
        <p:spPr>
          <a:xfrm xmlns:a="http://schemas.openxmlformats.org/drawingml/2006/main">
            <a:off x="26884420" y="6155185"/>
            <a:ext cx="484342" cy="484342"/>
          </a:xfrm>
          <a:prstGeom xmlns:a="http://schemas.openxmlformats.org/drawingml/2006/main" prst="rect">
            <a:avLst/>
          </a:prstGeom>
        </p:spPr>
      </p:pic>
      <p:sp>
        <p:nvSpPr>
          <p:cNvPr id="48" name="GitHub">
            <a:extLst xmlns:a="http://schemas.openxmlformats.org/drawingml/2006/main">
              <a:ext uri="{FF2B5EF4-FFF2-40B4-BE49-F238E27FC236}">
                <a16:creationId xmlns:a16="http://schemas.microsoft.com/office/drawing/2014/main" id="{AE81F874-C793-46C2-BE59-EC04EAC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077" y="6135004"/>
            <a:ext cx="2078898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43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543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1CDED7-63C0-4BAA-894C-C258C46C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7002784"/>
            <a:ext cx="14209167" cy="6013919"/>
          </a:xfrm>
          <a:prstGeom xmlns:a="http://schemas.openxmlformats.org/drawingml/2006/main" prst="roundRect">
            <a:avLst>
              <a:gd name="adj" fmla="val 10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214166-18C8-448E-A471-D2507D8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7002784"/>
            <a:ext cx="14209167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51" name="Abstract">
            <a:extLst xmlns:a="http://schemas.openxmlformats.org/drawingml/2006/main">
              <a:ext uri="{FF2B5EF4-FFF2-40B4-BE49-F238E27FC236}">
                <a16:creationId xmlns:a16="http://schemas.microsoft.com/office/drawing/2014/main" id="{60CAB4E8-0664-4925-95CA-0EE75A9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" y="7043146"/>
            <a:ext cx="13724763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52" name="Phishing URLs imitate trusted services to steal credentials. We independently re">
            <a:extLst xmlns:a="http://schemas.openxmlformats.org/drawingml/2006/main">
              <a:ext uri="{FF2B5EF4-FFF2-40B4-BE49-F238E27FC236}">
                <a16:creationId xmlns:a16="http://schemas.microsoft.com/office/drawing/2014/main" id="{B926F8A2-624B-44D0-8DC2-ACB9BA0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40" y="8032012"/>
            <a:ext cx="13462378" cy="4681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Phishing detection needs reliable evaluation as well as accurate predictions. Our initial 20,000-URL CNN-LightGBM reproduction remains a historical experiment. Production now serves CharCNN with a two-layer bidirectional LSTM and additive attention (v3.3). Its split audit found domain overlap, two cleaned training-input matches in an evaluation snapshot, and a failed promotion criterion overridden by the maintainer. A separate v3.4 candidate repairs whole-domain separation and achieves 92.876% accuracy, 90.696% recall and 98.289% ROC-AUC on 31,795 test URLs. However, fewer external false alarms accompany more missed phishing URLs, so it was not promoted. Independent HTML/email evidence and human-reviewed feedback remain separate from the URL-model score.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B9DA84-AB9A-47FD-B87F-229A99E0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13299236"/>
            <a:ext cx="14209167" cy="5973557"/>
          </a:xfrm>
          <a:prstGeom xmlns:a="http://schemas.openxmlformats.org/drawingml/2006/main" prst="roundRect">
            <a:avLst>
              <a:gd name="adj" fmla="val 10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6F0B13-2AA5-4817-8DFC-F3B9F90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13299236"/>
            <a:ext cx="14209167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55" name="Objectives">
            <a:extLst xmlns:a="http://schemas.openxmlformats.org/drawingml/2006/main">
              <a:ext uri="{FF2B5EF4-FFF2-40B4-BE49-F238E27FC236}">
                <a16:creationId xmlns:a16="http://schemas.microsoft.com/office/drawing/2014/main" id="{400C93B0-1B8E-4B9B-82E0-67ED448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" y="13339598"/>
            <a:ext cx="13724763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460CAD-D8A1-4666-9044-B5A575E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4308283"/>
            <a:ext cx="585321" cy="58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8"/>
          </a:solidFill>
          <a:ln xmlns:a="http://schemas.openxmlformats.org/drawingml/2006/main" w="0">
            <a:solidFill>
              <a:srgbClr val="0078B8"/>
            </a:solidFill>
          </a:ln>
        </p:spPr>
      </p:sp>
      <p:sp>
        <p:nvSpPr>
          <p:cNvPr id="57" name="1">
            <a:extLst xmlns:a="http://schemas.openxmlformats.org/drawingml/2006/main">
              <a:ext uri="{FF2B5EF4-FFF2-40B4-BE49-F238E27FC236}">
                <a16:creationId xmlns:a16="http://schemas.microsoft.com/office/drawing/2014/main" id="{7975F7BC-9669-4D90-B9AD-DFB27FA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4308283"/>
            <a:ext cx="585321" cy="5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Detect phishing using learned patterns and engineered features">
            <a:extLst xmlns:a="http://schemas.openxmlformats.org/drawingml/2006/main">
              <a:ext uri="{FF2B5EF4-FFF2-40B4-BE49-F238E27FC236}">
                <a16:creationId xmlns:a16="http://schemas.microsoft.com/office/drawing/2014/main" id="{B4754139-5F04-4355-85D2-2C80C62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62" y="14288102"/>
            <a:ext cx="12614672" cy="64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892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Detect phishing using learned patterns and engineered features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855BD2-300C-4B0B-B07A-92C014B7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5054977"/>
            <a:ext cx="585321" cy="58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75"/>
          </a:solidFill>
          <a:ln xmlns:a="http://schemas.openxmlformats.org/drawingml/2006/main" w="0">
            <a:solidFill>
              <a:srgbClr val="008A75"/>
            </a:solidFill>
          </a:ln>
        </p:spPr>
      </p:sp>
      <p:sp>
        <p:nvSpPr>
          <p:cNvPr id="60" name="2">
            <a:extLst xmlns:a="http://schemas.openxmlformats.org/drawingml/2006/main">
              <a:ext uri="{FF2B5EF4-FFF2-40B4-BE49-F238E27FC236}">
                <a16:creationId xmlns:a16="http://schemas.microsoft.com/office/drawing/2014/main" id="{C8FEAA89-D1B1-4666-8FCD-A15047FD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5054977"/>
            <a:ext cx="585321" cy="5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1" name="Prevent leakage through root-domain-separated evaluation">
            <a:extLst xmlns:a="http://schemas.openxmlformats.org/drawingml/2006/main">
              <a:ext uri="{FF2B5EF4-FFF2-40B4-BE49-F238E27FC236}">
                <a16:creationId xmlns:a16="http://schemas.microsoft.com/office/drawing/2014/main" id="{07D81668-C738-4AA6-A14A-D9F765D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62" y="15034797"/>
            <a:ext cx="12614672" cy="64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892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Prevent leakage through root-domain-separated evaluation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AC660D-1EB9-4523-8B45-B4C4687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5801672"/>
            <a:ext cx="585321" cy="58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B16"/>
          </a:solidFill>
          <a:ln xmlns:a="http://schemas.openxmlformats.org/drawingml/2006/main" w="0">
            <a:solidFill>
              <a:srgbClr val="EFBB16"/>
            </a:solidFill>
          </a:ln>
        </p:spPr>
      </p:sp>
      <p:sp>
        <p:nvSpPr>
          <p:cNvPr id="63" name="3">
            <a:extLst xmlns:a="http://schemas.openxmlformats.org/drawingml/2006/main">
              <a:ext uri="{FF2B5EF4-FFF2-40B4-BE49-F238E27FC236}">
                <a16:creationId xmlns:a16="http://schemas.microsoft.com/office/drawing/2014/main" id="{006CB226-D8BD-4232-A1B5-C3EF634A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5801672"/>
            <a:ext cx="585321" cy="5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4" name="Combine complementary CNN and LightGBM probabilities">
            <a:extLst xmlns:a="http://schemas.openxmlformats.org/drawingml/2006/main">
              <a:ext uri="{FF2B5EF4-FFF2-40B4-BE49-F238E27FC236}">
                <a16:creationId xmlns:a16="http://schemas.microsoft.com/office/drawing/2014/main" id="{AB867DC8-037A-4E46-B1FB-388CB05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62" y="15781491"/>
            <a:ext cx="12614672" cy="64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Compare historical ensembles with bidirectional sequence models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629D9A-2A0C-41E7-B9B1-B6CBF797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6548367"/>
            <a:ext cx="585321" cy="58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</a:ln>
        </p:spPr>
      </p:sp>
      <p:sp>
        <p:nvSpPr>
          <p:cNvPr id="66" name="4">
            <a:extLst xmlns:a="http://schemas.openxmlformats.org/drawingml/2006/main">
              <a:ext uri="{FF2B5EF4-FFF2-40B4-BE49-F238E27FC236}">
                <a16:creationId xmlns:a16="http://schemas.microsoft.com/office/drawing/2014/main" id="{86CB1505-2AEA-4B11-BAFD-4DA8220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6548367"/>
            <a:ext cx="585321" cy="5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7" name="Improve resilience against adversarial URL mutations">
            <a:extLst xmlns:a="http://schemas.openxmlformats.org/drawingml/2006/main">
              <a:ext uri="{FF2B5EF4-FFF2-40B4-BE49-F238E27FC236}">
                <a16:creationId xmlns:a16="http://schemas.microsoft.com/office/drawing/2014/main" id="{03C68FC8-EE0B-4D53-BA35-D735578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62" y="16528186"/>
            <a:ext cx="12614672" cy="64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Measure adversarial resilience and false-positive tradeoffs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6B3313-1798-44BF-B536-1F6675C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7295061"/>
            <a:ext cx="585321" cy="585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AB"/>
          </a:solidFill>
          <a:ln xmlns:a="http://schemas.openxmlformats.org/drawingml/2006/main" w="0">
            <a:solidFill>
              <a:srgbClr val="7654AB"/>
            </a:solidFill>
          </a:ln>
        </p:spPr>
      </p:sp>
      <p:sp>
        <p:nvSpPr>
          <p:cNvPr id="69" name="5">
            <a:extLst xmlns:a="http://schemas.openxmlformats.org/drawingml/2006/main">
              <a:ext uri="{FF2B5EF4-FFF2-40B4-BE49-F238E27FC236}">
                <a16:creationId xmlns:a16="http://schemas.microsoft.com/office/drawing/2014/main" id="{004C1C59-F388-443B-817B-902EDB0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17295061"/>
            <a:ext cx="585321" cy="585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02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0" name="Add safe context evidence and human-verified adaptation">
            <a:extLst xmlns:a="http://schemas.openxmlformats.org/drawingml/2006/main">
              <a:ext uri="{FF2B5EF4-FFF2-40B4-BE49-F238E27FC236}">
                <a16:creationId xmlns:a16="http://schemas.microsoft.com/office/drawing/2014/main" id="{60EBD348-DCBA-455A-9C7E-E4CCD29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962" y="17274880"/>
            <a:ext cx="12614672" cy="645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9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892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Add safe context evidence and human-verified adaptation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BAFF00-018E-4CD5-A5FC-B353AF5E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73" y="18162841"/>
            <a:ext cx="13563295" cy="867780"/>
          </a:xfrm>
          <a:prstGeom xmlns:a="http://schemas.openxmlformats.org/drawingml/2006/main" prst="roundRect">
            <a:avLst>
              <a:gd name="adj" fmla="val 930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6147">
            <a:solidFill>
              <a:srgbClr val="DBE6EF"/>
            </a:solidFill>
            <a:prstDash val="solid"/>
          </a:ln>
        </p:spPr>
      </p:sp>
      <p:sp>
        <p:nvSpPr>
          <p:cNvPr id="72" name="Train: 14,002    Validation: 2,000    Test: 3,998">
            <a:extLst xmlns:a="http://schemas.openxmlformats.org/drawingml/2006/main">
              <a:ext uri="{FF2B5EF4-FFF2-40B4-BE49-F238E27FC236}">
                <a16:creationId xmlns:a16="http://schemas.microsoft.com/office/drawing/2014/main" id="{BC48DF4F-7927-4EAC-AC6A-3B510A27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24" y="18243565"/>
            <a:ext cx="9022013" cy="665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Historical split: 14,002 / 2,000 / 3,998</a:t>
            </a:r>
          </a:p>
        </p:txBody>
      </p:sp>
      <p:sp>
        <p:nvSpPr>
          <p:cNvPr id="73" name="0 domain overlap">
            <a:extLst xmlns:a="http://schemas.openxmlformats.org/drawingml/2006/main">
              <a:ext uri="{FF2B5EF4-FFF2-40B4-BE49-F238E27FC236}">
                <a16:creationId xmlns:a16="http://schemas.microsoft.com/office/drawing/2014/main" id="{B13DBEDE-966E-4C78-8139-71D4380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655" y="18243565"/>
            <a:ext cx="3996328" cy="665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6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67E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E78"/>
                </a:solidFill>
                <a:latin typeface="Arial"/>
                <a:ea typeface="Arial"/>
                <a:cs typeface="Arial"/>
              </a:rPr>
              <a:t>Historical overlap: 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3403C2-F586-453A-858D-1146564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19555326"/>
            <a:ext cx="14209167" cy="7870565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8D1C04F-2811-4051-9294-36BAF61A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19555326"/>
            <a:ext cx="14209167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76" name="Key Innovations">
            <a:extLst xmlns:a="http://schemas.openxmlformats.org/drawingml/2006/main">
              <a:ext uri="{FF2B5EF4-FFF2-40B4-BE49-F238E27FC236}">
                <a16:creationId xmlns:a16="http://schemas.microsoft.com/office/drawing/2014/main" id="{49F51279-9BC1-4EC4-90AD-0A33606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" y="19595688"/>
            <a:ext cx="13724763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Innovations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F2BEC56-C5A8-4E3B-9FDB-C0E667DC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20786363"/>
            <a:ext cx="1069724" cy="1069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B8">
              <a:alpha val="6275"/>
            </a:srgbClr>
          </a:solidFill>
          <a:ln xmlns:a="http://schemas.openxmlformats.org/drawingml/2006/main" w="12110">
            <a:solidFill>
              <a:srgbClr val="0078B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35C217-3B7B-4E0B-B30E-CE51DD39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78" y="20941924"/>
            <a:ext cx="224121" cy="172379"/>
          </a:xfrm>
          <a:prstGeom xmlns:a="http://schemas.openxmlformats.org/drawingml/2006/main" prst="roundRect">
            <a:avLst>
              <a:gd name="adj" fmla="val 23418"/>
            </a:avLst>
          </a:prstGeom>
          <a:noFill xmlns:a="http://schemas.openxmlformats.org/drawingml/2006/main"/>
          <a:ln xmlns:a="http://schemas.openxmlformats.org/drawingml/2006/main" w="34480">
            <a:solidFill>
              <a:srgbClr val="0078B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85B610-4A29-46CD-8C52-D4BABB1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278" y="21114303"/>
            <a:ext cx="275841" cy="379233"/>
          </a:xfrm>
          <a:custGeom xmlns:a="http://schemas.openxmlformats.org/drawingml/2006/main">
            <a:pathLst>
              <a:path w="275841" h="379233">
                <a:moveTo>
                  <a:pt x="275841" y="0"/>
                </a:moveTo>
                <a:lnTo>
                  <a:pt x="275841" y="189617"/>
                </a:lnTo>
                <a:lnTo>
                  <a:pt x="0" y="189617"/>
                </a:lnTo>
                <a:lnTo>
                  <a:pt x="0" y="379233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0078B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E3D647-3175-4EC4-B567-4540C90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18" y="21303920"/>
            <a:ext cx="293081" cy="189617"/>
          </a:xfrm>
          <a:custGeom xmlns:a="http://schemas.openxmlformats.org/drawingml/2006/main">
            <a:pathLst>
              <a:path w="293081" h="189617">
                <a:moveTo>
                  <a:pt x="0" y="0"/>
                </a:moveTo>
                <a:lnTo>
                  <a:pt x="293081" y="0"/>
                </a:lnTo>
                <a:lnTo>
                  <a:pt x="293081" y="189617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0078B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AA1592-049F-497B-A7F2-A7DDB1A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97" y="21493537"/>
            <a:ext cx="241361" cy="189617"/>
          </a:xfrm>
          <a:prstGeom xmlns:a="http://schemas.openxmlformats.org/drawingml/2006/main" prst="roundRect">
            <a:avLst>
              <a:gd name="adj" fmla="val 21289"/>
            </a:avLst>
          </a:prstGeom>
          <a:noFill xmlns:a="http://schemas.openxmlformats.org/drawingml/2006/main"/>
          <a:ln xmlns:a="http://schemas.openxmlformats.org/drawingml/2006/main" w="34480">
            <a:solidFill>
              <a:srgbClr val="0078B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8ABE94-9367-465D-A6DC-8AA9E21E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519" y="21493537"/>
            <a:ext cx="241361" cy="189617"/>
          </a:xfrm>
          <a:prstGeom xmlns:a="http://schemas.openxmlformats.org/drawingml/2006/main" prst="roundRect">
            <a:avLst>
              <a:gd name="adj" fmla="val 21289"/>
            </a:avLst>
          </a:prstGeom>
          <a:noFill xmlns:a="http://schemas.openxmlformats.org/drawingml/2006/main"/>
          <a:ln xmlns:a="http://schemas.openxmlformats.org/drawingml/2006/main" w="34480">
            <a:solidFill>
              <a:srgbClr val="0078B8"/>
            </a:solidFill>
            <a:prstDash val="solid"/>
          </a:ln>
        </p:spPr>
      </p:sp>
      <p:sp>
        <p:nvSpPr>
          <p:cNvPr id="83" name="Domain-Separated Evaluation">
            <a:extLst xmlns:a="http://schemas.openxmlformats.org/drawingml/2006/main">
              <a:ext uri="{FF2B5EF4-FFF2-40B4-BE49-F238E27FC236}">
                <a16:creationId xmlns:a16="http://schemas.microsoft.com/office/drawing/2014/main" id="{3365AB9B-1AA2-41C3-9B96-C6B13ED8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0645096"/>
            <a:ext cx="11988984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Version-Specific Evaluation</a:t>
            </a:r>
          </a:p>
        </p:txBody>
      </p:sp>
      <p:sp>
        <p:nvSpPr>
          <p:cNvPr id="84" name="Detected initial root-domain leakage and corrected every split pair to zero over">
            <a:extLst xmlns:a="http://schemas.openxmlformats.org/drawingml/2006/main">
              <a:ext uri="{FF2B5EF4-FFF2-40B4-BE49-F238E27FC236}">
                <a16:creationId xmlns:a16="http://schemas.microsoft.com/office/drawing/2014/main" id="{6C62EFBE-4FD7-4126-8E8D-A551EDB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1250524"/>
            <a:ext cx="11988984" cy="96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Original reproduction: zero domain overlap. v3.3 has overlap; the local v3.4 candidate restores whole-domain separation.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05247F-1804-4564-8B62-713C90B5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16" y="22219209"/>
            <a:ext cx="12089902" cy="202"/>
          </a:xfrm>
          <a:custGeom xmlns:a="http://schemas.openxmlformats.org/drawingml/2006/main">
            <a:pathLst>
              <a:path w="12089902" h="202">
                <a:moveTo>
                  <a:pt x="0" y="0"/>
                </a:moveTo>
                <a:lnTo>
                  <a:pt x="12089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7">
            <a:solidFill>
              <a:srgbClr val="DCE4E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91DA62-A4D6-4E22-9F11-10776345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22400838"/>
            <a:ext cx="1069724" cy="1069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7A16">
              <a:alpha val="6275"/>
            </a:srgbClr>
          </a:solidFill>
          <a:ln xmlns:a="http://schemas.openxmlformats.org/drawingml/2006/main" w="12110">
            <a:solidFill>
              <a:srgbClr val="D87A16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F125EE-BCC4-4B0D-87A4-2A5066F3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798" y="22573637"/>
            <a:ext cx="620642" cy="723991"/>
          </a:xfrm>
          <a:custGeom xmlns:a="http://schemas.openxmlformats.org/drawingml/2006/main">
            <a:pathLst>
              <a:path w="620642" h="723991">
                <a:moveTo>
                  <a:pt x="310321" y="0"/>
                </a:moveTo>
                <a:lnTo>
                  <a:pt x="620642" y="120665"/>
                </a:lnTo>
                <a:lnTo>
                  <a:pt x="568922" y="448185"/>
                </a:lnTo>
                <a:lnTo>
                  <a:pt x="448241" y="620564"/>
                </a:lnTo>
                <a:lnTo>
                  <a:pt x="310321" y="723991"/>
                </a:lnTo>
                <a:lnTo>
                  <a:pt x="172401" y="620564"/>
                </a:lnTo>
                <a:lnTo>
                  <a:pt x="51720" y="448185"/>
                </a:lnTo>
                <a:lnTo>
                  <a:pt x="0" y="120665"/>
                </a:lnTo>
                <a:lnTo>
                  <a:pt x="310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D87A16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4F59AE-F5CC-497F-B7A7-35A88AA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58" y="22814967"/>
            <a:ext cx="327561" cy="241330"/>
          </a:xfrm>
          <a:custGeom xmlns:a="http://schemas.openxmlformats.org/drawingml/2006/main">
            <a:pathLst>
              <a:path w="327561" h="241330">
                <a:moveTo>
                  <a:pt x="0" y="120665"/>
                </a:moveTo>
                <a:lnTo>
                  <a:pt x="120680" y="241330"/>
                </a:lnTo>
                <a:lnTo>
                  <a:pt x="3275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D87A16"/>
            </a:solidFill>
          </a:ln>
        </p:spPr>
      </p:sp>
      <p:sp>
        <p:nvSpPr>
          <p:cNvPr id="89" name="Adversarial Robustness">
            <a:extLst xmlns:a="http://schemas.openxmlformats.org/drawingml/2006/main">
              <a:ext uri="{FF2B5EF4-FFF2-40B4-BE49-F238E27FC236}">
                <a16:creationId xmlns:a16="http://schemas.microsoft.com/office/drawing/2014/main" id="{3389EA44-510F-48FF-A751-EED63833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2259571"/>
            <a:ext cx="11988984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496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Adversarial Robustness</a:t>
            </a:r>
          </a:p>
        </p:txBody>
      </p:sp>
      <p:sp>
        <p:nvSpPr>
          <p:cNvPr id="90" name="Eight seeded mutation families; 1,751 training-only augmentations. Adversarial r">
            <a:extLst xmlns:a="http://schemas.openxmlformats.org/drawingml/2006/main">
              <a:ext uri="{FF2B5EF4-FFF2-40B4-BE49-F238E27FC236}">
                <a16:creationId xmlns:a16="http://schemas.microsoft.com/office/drawing/2014/main" id="{9BCF4DD1-6D0F-4994-AF67-E14548D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2864999"/>
            <a:ext cx="11988984" cy="96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00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Historical robustness experiment: eight seeded mutations, 1,751 train-only augmentations; recall 98.145% to 99.148%.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874389-C883-4BC1-B205-DEB500F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16" y="23833684"/>
            <a:ext cx="12089902" cy="202"/>
          </a:xfrm>
          <a:custGeom xmlns:a="http://schemas.openxmlformats.org/drawingml/2006/main">
            <a:pathLst>
              <a:path w="12089902" h="202">
                <a:moveTo>
                  <a:pt x="0" y="0"/>
                </a:moveTo>
                <a:lnTo>
                  <a:pt x="12089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7">
            <a:solidFill>
              <a:srgbClr val="DCE4EA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F1EAC84-EB31-49CA-800C-DCA636D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24015313"/>
            <a:ext cx="1069724" cy="1069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AB">
              <a:alpha val="6275"/>
            </a:srgbClr>
          </a:solidFill>
          <a:ln xmlns:a="http://schemas.openxmlformats.org/drawingml/2006/main" w="12110">
            <a:solidFill>
              <a:srgbClr val="7654AB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6181598-0111-4F5A-9CCE-C842913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77" y="24188112"/>
            <a:ext cx="724082" cy="723991"/>
          </a:xfrm>
          <a:prstGeom xmlns:a="http://schemas.openxmlformats.org/drawingml/2006/main" prst="roundRect">
            <a:avLst>
              <a:gd name="adj" fmla="val 5576"/>
            </a:avLst>
          </a:prstGeom>
          <a:noFill xmlns:a="http://schemas.openxmlformats.org/drawingml/2006/main"/>
          <a:ln xmlns:a="http://schemas.openxmlformats.org/drawingml/2006/main" w="34480">
            <a:solidFill>
              <a:srgbClr val="7654A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0A6F0A-582F-4EE9-800A-9FE6E171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58" y="24429442"/>
            <a:ext cx="120680" cy="241330"/>
          </a:xfrm>
          <a:custGeom xmlns:a="http://schemas.openxmlformats.org/drawingml/2006/main">
            <a:pathLst>
              <a:path w="120680" h="241330">
                <a:moveTo>
                  <a:pt x="120680" y="0"/>
                </a:moveTo>
                <a:lnTo>
                  <a:pt x="0" y="120665"/>
                </a:lnTo>
                <a:lnTo>
                  <a:pt x="120680" y="241330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7654AB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5CC20F-B4F2-4DE4-9165-D0FF5FD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799" y="24429442"/>
            <a:ext cx="120680" cy="241330"/>
          </a:xfrm>
          <a:custGeom xmlns:a="http://schemas.openxmlformats.org/drawingml/2006/main">
            <a:pathLst>
              <a:path w="120680" h="241330">
                <a:moveTo>
                  <a:pt x="0" y="0"/>
                </a:moveTo>
                <a:lnTo>
                  <a:pt x="120680" y="120665"/>
                </a:lnTo>
                <a:lnTo>
                  <a:pt x="0" y="241330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7654AB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9BD3D9-7949-4D4E-8D81-0BF9AE4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38" y="24343253"/>
            <a:ext cx="86200" cy="413709"/>
          </a:xfrm>
          <a:custGeom xmlns:a="http://schemas.openxmlformats.org/drawingml/2006/main">
            <a:pathLst>
              <a:path w="86200" h="413709">
                <a:moveTo>
                  <a:pt x="86200" y="0"/>
                </a:moveTo>
                <a:lnTo>
                  <a:pt x="0" y="413709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7654AB"/>
            </a:solidFill>
          </a:ln>
        </p:spPr>
      </p:sp>
      <p:sp>
        <p:nvSpPr>
          <p:cNvPr id="97" name="Safe Context Analysis">
            <a:extLst xmlns:a="http://schemas.openxmlformats.org/drawingml/2006/main">
              <a:ext uri="{FF2B5EF4-FFF2-40B4-BE49-F238E27FC236}">
                <a16:creationId xmlns:a16="http://schemas.microsoft.com/office/drawing/2014/main" id="{EE449A31-0867-4B2D-A58D-1DB4EE16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3874046"/>
            <a:ext cx="11988984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496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Safe Context Analysis</a:t>
            </a:r>
          </a:p>
        </p:txBody>
      </p:sp>
      <p:sp>
        <p:nvSpPr>
          <p:cNvPr id="98" name="Independent HTML and email analyzers inspect supplied text. No website fetching,">
            <a:extLst xmlns:a="http://schemas.openxmlformats.org/drawingml/2006/main">
              <a:ext uri="{FF2B5EF4-FFF2-40B4-BE49-F238E27FC236}">
                <a16:creationId xmlns:a16="http://schemas.microsoft.com/office/drawing/2014/main" id="{D88EEF53-3431-47D1-B221-26A9CF2E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4479474"/>
            <a:ext cx="11988984" cy="96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7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7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877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Independent HTML and email analyzers inspect supplied text. No website fetching, code execution or mailbox access.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BD5071-1767-4E02-9896-71794197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16" y="25448159"/>
            <a:ext cx="12089902" cy="202"/>
          </a:xfrm>
          <a:custGeom xmlns:a="http://schemas.openxmlformats.org/drawingml/2006/main">
            <a:pathLst>
              <a:path w="12089902" h="202">
                <a:moveTo>
                  <a:pt x="0" y="0"/>
                </a:moveTo>
                <a:lnTo>
                  <a:pt x="12089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7">
            <a:solidFill>
              <a:srgbClr val="DCE4E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662DB2-C683-4FD9-B480-B43D045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25629787"/>
            <a:ext cx="1069724" cy="1069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75">
              <a:alpha val="6275"/>
            </a:srgbClr>
          </a:solidFill>
          <a:ln xmlns:a="http://schemas.openxmlformats.org/drawingml/2006/main" w="12110">
            <a:solidFill>
              <a:srgbClr val="008A7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99244B-9802-4A3B-B5FF-1E695D7E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38" y="25802587"/>
            <a:ext cx="241361" cy="241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4480">
            <a:solidFill>
              <a:srgbClr val="008A7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679B30-B003-46CA-9D55-6D02CEBA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18" y="26147344"/>
            <a:ext cx="379281" cy="327520"/>
          </a:xfrm>
          <a:custGeom xmlns:a="http://schemas.openxmlformats.org/drawingml/2006/main">
            <a:pathLst>
              <a:path w="379281" h="327520">
                <a:moveTo>
                  <a:pt x="0" y="327520"/>
                </a:moveTo>
                <a:lnTo>
                  <a:pt x="17240" y="155141"/>
                </a:lnTo>
                <a:lnTo>
                  <a:pt x="120680" y="17238"/>
                </a:lnTo>
                <a:lnTo>
                  <a:pt x="275841" y="0"/>
                </a:lnTo>
                <a:lnTo>
                  <a:pt x="379281" y="51714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008A75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B74794-E6A2-4E41-88E6-58D1C22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319" y="26233534"/>
            <a:ext cx="293081" cy="241330"/>
          </a:xfrm>
          <a:custGeom xmlns:a="http://schemas.openxmlformats.org/drawingml/2006/main">
            <a:pathLst>
              <a:path w="293081" h="241330">
                <a:moveTo>
                  <a:pt x="0" y="137903"/>
                </a:moveTo>
                <a:lnTo>
                  <a:pt x="103440" y="241330"/>
                </a:lnTo>
                <a:lnTo>
                  <a:pt x="293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928">
            <a:solidFill>
              <a:srgbClr val="008A75"/>
            </a:solidFill>
          </a:ln>
        </p:spPr>
      </p:sp>
      <p:sp>
        <p:nvSpPr>
          <p:cNvPr id="104" name="Human-Verified Continuous Learning">
            <a:extLst xmlns:a="http://schemas.openxmlformats.org/drawingml/2006/main">
              <a:ext uri="{FF2B5EF4-FFF2-40B4-BE49-F238E27FC236}">
                <a16:creationId xmlns:a16="http://schemas.microsoft.com/office/drawing/2014/main" id="{C3CC3D6C-14B4-4BF9-8F7E-E6D0234D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5488521"/>
            <a:ext cx="11988984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496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3496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Human-Verified Continuous Learning</a:t>
            </a:r>
          </a:p>
        </p:txBody>
      </p:sp>
      <p:sp>
        <p:nvSpPr>
          <p:cNvPr id="105" name="Quarantine → human review → approved data → candidate training → validation gate">
            <a:extLst xmlns:a="http://schemas.openxmlformats.org/drawingml/2006/main">
              <a:ext uri="{FF2B5EF4-FFF2-40B4-BE49-F238E27FC236}">
                <a16:creationId xmlns:a16="http://schemas.microsoft.com/office/drawing/2014/main" id="{D8DE91DF-F629-4332-9DA7-636153E6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83" y="26093949"/>
            <a:ext cx="11988984" cy="96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7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7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877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Quarantine → human review → approved data → candidate training → validation gate. Model registry and PSI drift reports.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E0E65AB-4687-4BB7-B585-E6A2069A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7002784"/>
            <a:ext cx="14491735" cy="21149620"/>
          </a:xfrm>
          <a:prstGeom xmlns:a="http://schemas.openxmlformats.org/drawingml/2006/main" prst="roundRect">
            <a:avLst>
              <a:gd name="adj" fmla="val 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B78A51-43C8-4924-B92B-640A667D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7002784"/>
            <a:ext cx="14491735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108" name="Proposed Methodology / System Architecture">
            <a:extLst xmlns:a="http://schemas.openxmlformats.org/drawingml/2006/main">
              <a:ext uri="{FF2B5EF4-FFF2-40B4-BE49-F238E27FC236}">
                <a16:creationId xmlns:a16="http://schemas.microsoft.com/office/drawing/2014/main" id="{6FC60A9A-F046-43CB-AC54-71F32F0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542" y="7043146"/>
            <a:ext cx="14007332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Methodology / System Architecture</a:t>
            </a:r>
          </a:p>
        </p:txBody>
      </p:sp>
      <p:sp>
        <p:nvSpPr>
          <p:cNvPr id="173" name="Research Extensions">
            <a:extLst xmlns:a="http://schemas.openxmlformats.org/drawingml/2006/main">
              <a:ext uri="{FF2B5EF4-FFF2-40B4-BE49-F238E27FC236}">
                <a16:creationId xmlns:a16="http://schemas.microsoft.com/office/drawing/2014/main" id="{D50553FD-CB77-432D-B859-49BE44D1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193" y="20685458"/>
            <a:ext cx="13603662" cy="565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814" b="1">
                <a:solidFill>
                  <a:srgbClr val="C900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814" b="1">
                <a:solidFill>
                  <a:srgbClr val="C90018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C90018"/>
                </a:solidFill>
                <a:latin typeface="Arial"/>
                <a:ea typeface="Arial"/>
                <a:cs typeface="Arial"/>
              </a:rPr>
              <a:t>Research Extensions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0C2FB2F-36D5-497C-8468-4CB8709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2010" y="21452334"/>
            <a:ext cx="13684396" cy="1775922"/>
          </a:xfrm>
          <a:prstGeom xmlns:a="http://schemas.openxmlformats.org/drawingml/2006/main" prst="roundRect">
            <a:avLst>
              <a:gd name="adj" fmla="val 6819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20183">
            <a:solidFill>
              <a:srgbClr val="D6AC46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77DD267-9E2F-4863-A857-2CEF1721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7744" y="21892530"/>
            <a:ext cx="681192" cy="794624"/>
          </a:xfrm>
          <a:custGeom xmlns:a="http://schemas.openxmlformats.org/drawingml/2006/main">
            <a:pathLst>
              <a:path w="681192" h="794624">
                <a:moveTo>
                  <a:pt x="340596" y="0"/>
                </a:moveTo>
                <a:lnTo>
                  <a:pt x="681192" y="132437"/>
                </a:lnTo>
                <a:lnTo>
                  <a:pt x="624426" y="491910"/>
                </a:lnTo>
                <a:lnTo>
                  <a:pt x="491972" y="681107"/>
                </a:lnTo>
                <a:lnTo>
                  <a:pt x="340596" y="794624"/>
                </a:lnTo>
                <a:lnTo>
                  <a:pt x="189220" y="681107"/>
                </a:lnTo>
                <a:lnTo>
                  <a:pt x="56766" y="491910"/>
                </a:lnTo>
                <a:lnTo>
                  <a:pt x="0" y="132437"/>
                </a:lnTo>
                <a:lnTo>
                  <a:pt x="340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628">
            <a:solidFill>
              <a:srgbClr val="D87A1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924102F-8EF6-4865-A4B0-5468EC4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8042" y="22157405"/>
            <a:ext cx="359518" cy="264875"/>
          </a:xfrm>
          <a:custGeom xmlns:a="http://schemas.openxmlformats.org/drawingml/2006/main">
            <a:pathLst>
              <a:path w="359518" h="264875">
                <a:moveTo>
                  <a:pt x="0" y="132437"/>
                </a:moveTo>
                <a:lnTo>
                  <a:pt x="132454" y="264875"/>
                </a:lnTo>
                <a:lnTo>
                  <a:pt x="359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628">
            <a:solidFill>
              <a:srgbClr val="D87A16"/>
            </a:solidFill>
          </a:ln>
        </p:spPr>
      </p:sp>
      <p:sp>
        <p:nvSpPr>
          <p:cNvPr id="177" name="A. Adversarial Robustness">
            <a:extLst xmlns:a="http://schemas.openxmlformats.org/drawingml/2006/main">
              <a:ext uri="{FF2B5EF4-FFF2-40B4-BE49-F238E27FC236}">
                <a16:creationId xmlns:a16="http://schemas.microsoft.com/office/drawing/2014/main" id="{3C073157-3024-49D7-B36C-B550AD10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4486" y="21573419"/>
            <a:ext cx="11928434" cy="524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A. Historical Adversarial Robustness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E4CFCE1-E016-408D-8373-4F132ABB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4486" y="22259571"/>
            <a:ext cx="2179815" cy="686152"/>
          </a:xfrm>
          <a:prstGeom xmlns:a="http://schemas.openxmlformats.org/drawingml/2006/main" prst="roundRect">
            <a:avLst>
              <a:gd name="adj" fmla="val 8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47">
            <a:solidFill>
              <a:srgbClr val="DAB968"/>
            </a:solidFill>
            <a:prstDash val="solid"/>
          </a:ln>
        </p:spPr>
      </p:sp>
      <p:sp>
        <p:nvSpPr>
          <p:cNvPr id="179" name="Train URLs">
            <a:extLst xmlns:a="http://schemas.openxmlformats.org/drawingml/2006/main">
              <a:ext uri="{FF2B5EF4-FFF2-40B4-BE49-F238E27FC236}">
                <a16:creationId xmlns:a16="http://schemas.microsoft.com/office/drawing/2014/main" id="{930B3F56-429E-40D4-B23E-455D4B12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5220" y="22299933"/>
            <a:ext cx="2018348" cy="60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64B"/>
                </a:solidFill>
                <a:latin typeface="Arial"/>
                <a:ea typeface="Arial"/>
                <a:cs typeface="Arial"/>
              </a:rPr>
              <a:t>Train URLs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C2A085E-C700-4EDD-AFA0-17FE3F28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4302" y="22602647"/>
            <a:ext cx="161468" cy="202"/>
          </a:xfrm>
          <a:custGeom xmlns:a="http://schemas.openxmlformats.org/drawingml/2006/main">
            <a:pathLst>
              <a:path w="161468" h="202">
                <a:moveTo>
                  <a:pt x="0" y="0"/>
                </a:moveTo>
                <a:lnTo>
                  <a:pt x="1614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75">
            <a:solidFill>
              <a:srgbClr val="D87A1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0C43C1E-FE1C-4A65-AAAA-DAD486A3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4302" y="22521923"/>
            <a:ext cx="161468" cy="16144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7A16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A3C4C39-7CB0-44E7-8185-F3239CC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136" y="22259571"/>
            <a:ext cx="2179815" cy="686152"/>
          </a:xfrm>
          <a:prstGeom xmlns:a="http://schemas.openxmlformats.org/drawingml/2006/main" prst="roundRect">
            <a:avLst>
              <a:gd name="adj" fmla="val 8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47">
            <a:solidFill>
              <a:srgbClr val="DAB968"/>
            </a:solidFill>
            <a:prstDash val="solid"/>
          </a:ln>
        </p:spPr>
      </p:sp>
      <p:sp>
        <p:nvSpPr>
          <p:cNvPr id="183" name="8 mutations">
            <a:extLst xmlns:a="http://schemas.openxmlformats.org/drawingml/2006/main">
              <a:ext uri="{FF2B5EF4-FFF2-40B4-BE49-F238E27FC236}">
                <a16:creationId xmlns:a16="http://schemas.microsoft.com/office/drawing/2014/main" id="{B5F2BB8B-676C-4D95-B56D-52331C7F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6870" y="22299933"/>
            <a:ext cx="2018348" cy="60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64B"/>
                </a:solidFill>
                <a:latin typeface="Arial"/>
                <a:ea typeface="Arial"/>
                <a:cs typeface="Arial"/>
              </a:rPr>
              <a:t>8 mutations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1B9755A-03BE-48D5-A28D-7F31499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5952" y="22602647"/>
            <a:ext cx="222018" cy="202"/>
          </a:xfrm>
          <a:custGeom xmlns:a="http://schemas.openxmlformats.org/drawingml/2006/main">
            <a:pathLst>
              <a:path w="222018" h="202">
                <a:moveTo>
                  <a:pt x="0" y="0"/>
                </a:moveTo>
                <a:lnTo>
                  <a:pt x="222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75">
            <a:solidFill>
              <a:srgbClr val="D87A1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8CBDBDC-FB75-4E6D-84A7-B2D7F6AF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6502" y="22521923"/>
            <a:ext cx="161468" cy="16144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7A16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EB48C7C-82A6-48E0-90A3-949779E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8337" y="22259571"/>
            <a:ext cx="2179815" cy="686152"/>
          </a:xfrm>
          <a:prstGeom xmlns:a="http://schemas.openxmlformats.org/drawingml/2006/main" prst="roundRect">
            <a:avLst>
              <a:gd name="adj" fmla="val 8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47">
            <a:solidFill>
              <a:srgbClr val="DAB968"/>
            </a:solidFill>
            <a:prstDash val="solid"/>
          </a:ln>
        </p:spPr>
      </p:sp>
      <p:sp>
        <p:nvSpPr>
          <p:cNvPr id="187" name="Robust fit">
            <a:extLst xmlns:a="http://schemas.openxmlformats.org/drawingml/2006/main">
              <a:ext uri="{FF2B5EF4-FFF2-40B4-BE49-F238E27FC236}">
                <a16:creationId xmlns:a16="http://schemas.microsoft.com/office/drawing/2014/main" id="{BC92896B-5ED2-438E-B812-6BE153D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9071" y="22299933"/>
            <a:ext cx="2018348" cy="60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64B"/>
                </a:solidFill>
                <a:latin typeface="Arial"/>
                <a:ea typeface="Arial"/>
                <a:cs typeface="Arial"/>
              </a:rPr>
              <a:t>Robust fit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C67DB7D-62BD-4F69-BF34-EC8A350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8152" y="22602647"/>
            <a:ext cx="222018" cy="202"/>
          </a:xfrm>
          <a:custGeom xmlns:a="http://schemas.openxmlformats.org/drawingml/2006/main">
            <a:pathLst>
              <a:path w="222018" h="202">
                <a:moveTo>
                  <a:pt x="0" y="0"/>
                </a:moveTo>
                <a:lnTo>
                  <a:pt x="222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75">
            <a:solidFill>
              <a:srgbClr val="D87A16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5527A67-42A5-46BF-9E5D-32E79AFD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8703" y="22521923"/>
            <a:ext cx="161468" cy="16144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7A16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A32B8DF-0966-418D-BE3D-AECD126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537" y="22259571"/>
            <a:ext cx="2179815" cy="686152"/>
          </a:xfrm>
          <a:prstGeom xmlns:a="http://schemas.openxmlformats.org/drawingml/2006/main" prst="roundRect">
            <a:avLst>
              <a:gd name="adj" fmla="val 8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47">
            <a:solidFill>
              <a:srgbClr val="DAB968"/>
            </a:solidFill>
            <a:prstDash val="solid"/>
          </a:ln>
        </p:spPr>
      </p:sp>
      <p:sp>
        <p:nvSpPr>
          <p:cNvPr id="191" name="Val. gate">
            <a:extLst xmlns:a="http://schemas.openxmlformats.org/drawingml/2006/main">
              <a:ext uri="{FF2B5EF4-FFF2-40B4-BE49-F238E27FC236}">
                <a16:creationId xmlns:a16="http://schemas.microsoft.com/office/drawing/2014/main" id="{78E655C0-EC70-45C9-AF7D-B47E7BBC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1271" y="22299933"/>
            <a:ext cx="2018348" cy="60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64B"/>
                </a:solidFill>
                <a:latin typeface="Arial"/>
                <a:ea typeface="Arial"/>
                <a:cs typeface="Arial"/>
              </a:rPr>
              <a:t>Val. gate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8B4A7A5-73C6-407D-B39D-12F58F3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0353" y="22602647"/>
            <a:ext cx="222018" cy="202"/>
          </a:xfrm>
          <a:custGeom xmlns:a="http://schemas.openxmlformats.org/drawingml/2006/main">
            <a:pathLst>
              <a:path w="222018" h="202">
                <a:moveTo>
                  <a:pt x="0" y="0"/>
                </a:moveTo>
                <a:lnTo>
                  <a:pt x="222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75">
            <a:solidFill>
              <a:srgbClr val="D87A16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FFD17D6-00B3-43A6-8015-B30DC470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0903" y="22521923"/>
            <a:ext cx="161468" cy="16144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7A16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D6EDE80-E6C0-4438-98B2-19ACC484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738" y="22259571"/>
            <a:ext cx="2179815" cy="686152"/>
          </a:xfrm>
          <a:prstGeom xmlns:a="http://schemas.openxmlformats.org/drawingml/2006/main" prst="roundRect">
            <a:avLst>
              <a:gd name="adj" fmla="val 8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47">
            <a:solidFill>
              <a:srgbClr val="DAB968"/>
            </a:solidFill>
            <a:prstDash val="solid"/>
          </a:ln>
        </p:spPr>
      </p:sp>
      <p:sp>
        <p:nvSpPr>
          <p:cNvPr id="195" name="Candidate">
            <a:extLst xmlns:a="http://schemas.openxmlformats.org/drawingml/2006/main">
              <a:ext uri="{FF2B5EF4-FFF2-40B4-BE49-F238E27FC236}">
                <a16:creationId xmlns:a16="http://schemas.microsoft.com/office/drawing/2014/main" id="{99CC6896-2BCD-4B09-AAAE-ED8D8E7D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3472" y="22299933"/>
            <a:ext cx="2018348" cy="60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64B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7AF496E-1472-487E-98BD-071611D8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2010" y="23470427"/>
            <a:ext cx="13684396" cy="2240084"/>
          </a:xfrm>
          <a:prstGeom xmlns:a="http://schemas.openxmlformats.org/drawingml/2006/main" prst="roundRect">
            <a:avLst>
              <a:gd name="adj" fmla="val 5406"/>
            </a:avLst>
          </a:prstGeom>
          <a:solidFill xmlns:a="http://schemas.openxmlformats.org/drawingml/2006/main">
            <a:srgbClr val="EFF7FE"/>
          </a:solidFill>
          <a:ln xmlns:a="http://schemas.openxmlformats.org/drawingml/2006/main" w="20183">
            <a:solidFill>
              <a:srgbClr val="82B5D7"/>
            </a:solidFill>
            <a:prstDash val="solid"/>
          </a:ln>
        </p:spPr>
      </p:sp>
      <p:sp>
        <p:nvSpPr>
          <p:cNvPr id="197" name="B. Independent Context Analyzers">
            <a:extLst xmlns:a="http://schemas.openxmlformats.org/drawingml/2006/main">
              <a:ext uri="{FF2B5EF4-FFF2-40B4-BE49-F238E27FC236}">
                <a16:creationId xmlns:a16="http://schemas.microsoft.com/office/drawing/2014/main" id="{D7681240-D736-4C7A-85A4-AFC5A9F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395" y="23571332"/>
            <a:ext cx="13119259" cy="504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58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258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pPr>
            <a:r>
              <a:rPr sz="3258" b="1">
                <a:solidFill>
                  <a:srgbClr val="0078B8"/>
                </a:solidFill>
                <a:latin typeface="Arial"/>
                <a:ea typeface="Arial"/>
                <a:cs typeface="Arial"/>
              </a:rPr>
              <a:t>B. Independent Context Analyzers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F312182-5D01-4861-AE11-A8F73BAD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8730" y="24301630"/>
            <a:ext cx="618119" cy="618041"/>
          </a:xfrm>
          <a:prstGeom xmlns:a="http://schemas.openxmlformats.org/drawingml/2006/main" prst="roundRect">
            <a:avLst>
              <a:gd name="adj" fmla="val 6531"/>
            </a:avLst>
          </a:prstGeom>
          <a:noFill xmlns:a="http://schemas.openxmlformats.org/drawingml/2006/main"/>
          <a:ln xmlns:a="http://schemas.openxmlformats.org/drawingml/2006/main" w="29434">
            <a:solidFill>
              <a:srgbClr val="0078B8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BCC109C-951D-4133-B92F-954268FD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1750" y="24507643"/>
            <a:ext cx="103020" cy="206014"/>
          </a:xfrm>
          <a:custGeom xmlns:a="http://schemas.openxmlformats.org/drawingml/2006/main">
            <a:pathLst>
              <a:path w="103020" h="206014">
                <a:moveTo>
                  <a:pt x="103020" y="0"/>
                </a:moveTo>
                <a:lnTo>
                  <a:pt x="0" y="103007"/>
                </a:lnTo>
                <a:lnTo>
                  <a:pt x="103020" y="206014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BF28DF4-AC20-4A86-A513-9758300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809" y="24507643"/>
            <a:ext cx="103020" cy="206014"/>
          </a:xfrm>
          <a:custGeom xmlns:a="http://schemas.openxmlformats.org/drawingml/2006/main">
            <a:pathLst>
              <a:path w="103020" h="206014">
                <a:moveTo>
                  <a:pt x="0" y="0"/>
                </a:moveTo>
                <a:lnTo>
                  <a:pt x="103020" y="103007"/>
                </a:lnTo>
                <a:lnTo>
                  <a:pt x="0" y="206014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566E7D1-580C-45C8-8E09-AA0FC1F6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355" y="24434067"/>
            <a:ext cx="73586" cy="353166"/>
          </a:xfrm>
          <a:custGeom xmlns:a="http://schemas.openxmlformats.org/drawingml/2006/main">
            <a:pathLst>
              <a:path w="73586" h="353166">
                <a:moveTo>
                  <a:pt x="73586" y="0"/>
                </a:moveTo>
                <a:lnTo>
                  <a:pt x="0" y="353166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2" name="HTML text">
            <a:extLst xmlns:a="http://schemas.openxmlformats.org/drawingml/2006/main">
              <a:ext uri="{FF2B5EF4-FFF2-40B4-BE49-F238E27FC236}">
                <a16:creationId xmlns:a16="http://schemas.microsoft.com/office/drawing/2014/main" id="{6D12179E-7273-4C6A-BCC1-59B82FB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3018" y="24156579"/>
            <a:ext cx="4420181" cy="44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940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HTML text</a:t>
            </a:r>
          </a:p>
        </p:txBody>
      </p:sp>
      <p:sp>
        <p:nvSpPr>
          <p:cNvPr id="203" name="Forms, passwords, scripts, iframes">
            <a:extLst xmlns:a="http://schemas.openxmlformats.org/drawingml/2006/main">
              <a:ext uri="{FF2B5EF4-FFF2-40B4-BE49-F238E27FC236}">
                <a16:creationId xmlns:a16="http://schemas.microsoft.com/office/drawing/2014/main" id="{3402E08E-B037-4818-97CC-6B8F2C65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3018" y="24640922"/>
            <a:ext cx="5328437" cy="44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4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4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47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Forms, passwords, scripts, iframes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4A5E854-B6ED-493F-9792-AD20A49B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809" y="24389921"/>
            <a:ext cx="618119" cy="456173"/>
          </a:xfrm>
          <a:prstGeom xmlns:a="http://schemas.openxmlformats.org/drawingml/2006/main" prst="roundRect">
            <a:avLst>
              <a:gd name="adj" fmla="val 8849"/>
            </a:avLst>
          </a:prstGeom>
          <a:noFill xmlns:a="http://schemas.openxmlformats.org/drawingml/2006/main"/>
          <a:ln xmlns:a="http://schemas.openxmlformats.org/drawingml/2006/main" w="29434">
            <a:solidFill>
              <a:srgbClr val="0078B8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20FAFDA-EEF3-42F7-BAC2-8911049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526" y="24419352"/>
            <a:ext cx="588685" cy="235444"/>
          </a:xfrm>
          <a:custGeom xmlns:a="http://schemas.openxmlformats.org/drawingml/2006/main">
            <a:pathLst>
              <a:path w="588685" h="235444">
                <a:moveTo>
                  <a:pt x="0" y="0"/>
                </a:moveTo>
                <a:lnTo>
                  <a:pt x="294342" y="235444"/>
                </a:lnTo>
                <a:lnTo>
                  <a:pt x="5886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CE48E80-0C29-4262-ABE9-E3180F3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2526" y="24654796"/>
            <a:ext cx="191323" cy="176583"/>
          </a:xfrm>
          <a:custGeom xmlns:a="http://schemas.openxmlformats.org/drawingml/2006/main">
            <a:pathLst>
              <a:path w="191323" h="176583">
                <a:moveTo>
                  <a:pt x="0" y="176583"/>
                </a:moveTo>
                <a:lnTo>
                  <a:pt x="1913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73B4633-9F03-4E40-AD62-D0BFEB18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9888" y="24654796"/>
            <a:ext cx="191323" cy="176583"/>
          </a:xfrm>
          <a:custGeom xmlns:a="http://schemas.openxmlformats.org/drawingml/2006/main">
            <a:pathLst>
              <a:path w="191323" h="176583">
                <a:moveTo>
                  <a:pt x="191323" y="176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78">
            <a:solidFill>
              <a:srgbClr val="0078B8"/>
            </a:solidFill>
          </a:ln>
        </p:spPr>
      </p:sp>
      <p:sp>
        <p:nvSpPr>
          <p:cNvPr id="208" name="Email text">
            <a:extLst xmlns:a="http://schemas.openxmlformats.org/drawingml/2006/main">
              <a:ext uri="{FF2B5EF4-FFF2-40B4-BE49-F238E27FC236}">
                <a16:creationId xmlns:a16="http://schemas.microsoft.com/office/drawing/2014/main" id="{3A5E5D08-B2A9-4410-9E8D-E72EA2C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2097" y="24156579"/>
            <a:ext cx="5469722" cy="44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940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Email text</a:t>
            </a:r>
          </a:p>
        </p:txBody>
      </p:sp>
      <p:sp>
        <p:nvSpPr>
          <p:cNvPr id="209" name="Risk terms, requests, URLs">
            <a:extLst xmlns:a="http://schemas.openxmlformats.org/drawingml/2006/main">
              <a:ext uri="{FF2B5EF4-FFF2-40B4-BE49-F238E27FC236}">
                <a16:creationId xmlns:a16="http://schemas.microsoft.com/office/drawing/2014/main" id="{E4DC0DA5-C3B0-4429-8E49-78A0F8ED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2097" y="24640922"/>
            <a:ext cx="5510089" cy="44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4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47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47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Risk terms, requests, URLs</a:t>
            </a:r>
          </a:p>
        </p:txBody>
      </p:sp>
      <p:sp>
        <p:nvSpPr>
          <p:cNvPr id="210" name="Supplementary evidence only; excluded from validated URL probability">
            <a:extLst xmlns:a="http://schemas.openxmlformats.org/drawingml/2006/main">
              <a:ext uri="{FF2B5EF4-FFF2-40B4-BE49-F238E27FC236}">
                <a16:creationId xmlns:a16="http://schemas.microsoft.com/office/drawing/2014/main" id="{7C18FCC6-E088-4946-B9B3-72FE708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946" y="25205988"/>
            <a:ext cx="13038525" cy="38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75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575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pPr>
            <a:r>
              <a:rPr sz="2575" b="1">
                <a:solidFill>
                  <a:srgbClr val="0078B8"/>
                </a:solidFill>
                <a:latin typeface="Arial"/>
                <a:ea typeface="Arial"/>
                <a:cs typeface="Arial"/>
              </a:rPr>
              <a:t>Supplementary evidence only; excluded from validated URL probability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55A9C75-3129-40A7-939F-9FAC96F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2010" y="25952682"/>
            <a:ext cx="13684396" cy="1897008"/>
          </a:xfrm>
          <a:prstGeom xmlns:a="http://schemas.openxmlformats.org/drawingml/2006/main" prst="roundRect">
            <a:avLst>
              <a:gd name="adj" fmla="val 6384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20183">
            <a:solidFill>
              <a:srgbClr val="65B3A0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4EAA356-B2CA-4AB7-9692-E4605819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144" y="26285668"/>
            <a:ext cx="235474" cy="235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639">
            <a:solidFill>
              <a:srgbClr val="008A75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FA8EBE8-34FD-4EC2-880E-CBCEF35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5588" y="26622017"/>
            <a:ext cx="370030" cy="319531"/>
          </a:xfrm>
          <a:custGeom xmlns:a="http://schemas.openxmlformats.org/drawingml/2006/main">
            <a:pathLst>
              <a:path w="370030" h="319531">
                <a:moveTo>
                  <a:pt x="0" y="319531"/>
                </a:moveTo>
                <a:lnTo>
                  <a:pt x="16820" y="151357"/>
                </a:lnTo>
                <a:lnTo>
                  <a:pt x="117737" y="16817"/>
                </a:lnTo>
                <a:lnTo>
                  <a:pt x="269113" y="0"/>
                </a:lnTo>
                <a:lnTo>
                  <a:pt x="370030" y="50452"/>
                </a:lnTo>
              </a:path>
            </a:pathLst>
          </a:custGeom>
          <a:noFill xmlns:a="http://schemas.openxmlformats.org/drawingml/2006/main"/>
          <a:ln xmlns:a="http://schemas.openxmlformats.org/drawingml/2006/main" w="37003">
            <a:solidFill>
              <a:srgbClr val="008A75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FDB1DD6-79BC-41F2-87D5-AF581ED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1979" y="26706104"/>
            <a:ext cx="285933" cy="235444"/>
          </a:xfrm>
          <a:custGeom xmlns:a="http://schemas.openxmlformats.org/drawingml/2006/main">
            <a:pathLst>
              <a:path w="285933" h="235444">
                <a:moveTo>
                  <a:pt x="0" y="134540"/>
                </a:moveTo>
                <a:lnTo>
                  <a:pt x="100917" y="235444"/>
                </a:lnTo>
                <a:lnTo>
                  <a:pt x="2859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003">
            <a:solidFill>
              <a:srgbClr val="008A75"/>
            </a:solidFill>
          </a:ln>
        </p:spPr>
      </p:sp>
      <p:sp>
        <p:nvSpPr>
          <p:cNvPr id="215" name="C. Human-Verified Adaptation">
            <a:extLst xmlns:a="http://schemas.openxmlformats.org/drawingml/2006/main">
              <a:ext uri="{FF2B5EF4-FFF2-40B4-BE49-F238E27FC236}">
                <a16:creationId xmlns:a16="http://schemas.microsoft.com/office/drawing/2014/main" id="{D7C878D6-E870-4534-957C-BECE843E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119" y="26033406"/>
            <a:ext cx="11908250" cy="48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58" b="1">
                <a:solidFill>
                  <a:srgbClr val="008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258" b="1">
                <a:solidFill>
                  <a:srgbClr val="008A75"/>
                </a:solidFill>
                <a:latin typeface="Arial"/>
                <a:ea typeface="Arial"/>
                <a:cs typeface="Arial"/>
              </a:defRPr>
            </a:pPr>
            <a:r>
              <a:rPr sz="3258" b="1">
                <a:solidFill>
                  <a:srgbClr val="008A75"/>
                </a:solidFill>
                <a:latin typeface="Arial"/>
                <a:ea typeface="Arial"/>
                <a:cs typeface="Arial"/>
              </a:rPr>
              <a:t>C. Human-Verified Adaptation</a:t>
            </a:r>
          </a:p>
        </p:txBody>
      </p:sp>
      <p:sp>
        <p:nvSpPr>
          <p:cNvPr id="216" name="Feedback → Quarantine → Human review → Approved data">
            <a:extLst xmlns:a="http://schemas.openxmlformats.org/drawingml/2006/main">
              <a:ext uri="{FF2B5EF4-FFF2-40B4-BE49-F238E27FC236}">
                <a16:creationId xmlns:a16="http://schemas.microsoft.com/office/drawing/2014/main" id="{D33A1533-E62F-4895-8640-95171D4F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119" y="26638834"/>
            <a:ext cx="11948617" cy="4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18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18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718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Feedback → Quarantine → Human review → Approved data</a:t>
            </a:r>
          </a:p>
        </p:txBody>
      </p:sp>
      <p:sp>
        <p:nvSpPr>
          <p:cNvPr id="217" name="Offline candidate training → Validation gate → Model registry">
            <a:extLst xmlns:a="http://schemas.openxmlformats.org/drawingml/2006/main">
              <a:ext uri="{FF2B5EF4-FFF2-40B4-BE49-F238E27FC236}">
                <a16:creationId xmlns:a16="http://schemas.microsoft.com/office/drawing/2014/main" id="{95E24E63-7443-4C85-B12D-5711BCD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119" y="27102996"/>
            <a:ext cx="11948617" cy="4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622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622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Offline candidate training → Validation gate → Model registry</a:t>
            </a:r>
          </a:p>
        </p:txBody>
      </p:sp>
      <p:sp>
        <p:nvSpPr>
          <p:cNvPr id="218" name="PSI drift monitoring: monitor ≥ 0.10; investigate ≥ 0.25. No automatic retrainin">
            <a:extLst xmlns:a="http://schemas.openxmlformats.org/drawingml/2006/main">
              <a:ext uri="{FF2B5EF4-FFF2-40B4-BE49-F238E27FC236}">
                <a16:creationId xmlns:a16="http://schemas.microsoft.com/office/drawing/2014/main" id="{68D414F5-BF37-4FDD-9B6A-7D96982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762" y="27849690"/>
            <a:ext cx="13038525" cy="28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98" b="0">
                <a:solidFill>
                  <a:srgbClr val="008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098" b="0">
                <a:solidFill>
                  <a:srgbClr val="008A75"/>
                </a:solidFill>
                <a:latin typeface="Arial"/>
                <a:ea typeface="Arial"/>
                <a:cs typeface="Arial"/>
              </a:defRPr>
            </a:pPr>
            <a:r>
              <a:rPr sz="2098" b="0">
                <a:solidFill>
                  <a:srgbClr val="008A75"/>
                </a:solidFill>
                <a:latin typeface="Arial"/>
                <a:ea typeface="Arial"/>
                <a:cs typeface="Arial"/>
              </a:rPr>
              <a:t>PSI drift monitoring: monitor ≥ 0.10; investigate ≥ 0.25. No automatic retraining.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AFD1AF9-BF43-4B97-8EF5-7EB67B9A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27708424"/>
            <a:ext cx="14209167" cy="7991650"/>
          </a:xfrm>
          <a:prstGeom xmlns:a="http://schemas.openxmlformats.org/drawingml/2006/main" prst="roundRect">
            <a:avLst>
              <a:gd name="adj" fmla="val 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09AA2A9-6095-4FE8-A100-42D836A5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27708424"/>
            <a:ext cx="14209167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221" name="Experimental Results">
            <a:extLst xmlns:a="http://schemas.openxmlformats.org/drawingml/2006/main">
              <a:ext uri="{FF2B5EF4-FFF2-40B4-BE49-F238E27FC236}">
                <a16:creationId xmlns:a16="http://schemas.microsoft.com/office/drawing/2014/main" id="{4CDF0085-8561-473D-97F6-2D6DEA3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" y="27748786"/>
            <a:ext cx="13724763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Historical Experimental Results</a:t>
            </a:r>
          </a:p>
        </p:txBody>
      </p:sp>
      <p:graphicFrame>
        <p:nvGraphicFramePr>
          <p:cNvPr id="222" name="Chart">
            <a:extLst xmlns:a="http://schemas.openxmlformats.org/drawingml/2006/main">
              <a:ext uri="{FF2B5EF4-FFF2-40B4-BE49-F238E27FC236}">
                <a16:creationId xmlns:a16="http://schemas.microsoft.com/office/drawing/2014/main" id="{F4208715-C296-43BF-BC6F-E6E218A04F36}"/>
              </a:ext>
            </a:extLst>
          </p:cNvPr>
          <p:cNvGraphicFramePr/>
          <p:nvPr/>
        </p:nvGraphicFramePr>
        <p:xfrm>
          <a:off xmlns:a="http://schemas.openxmlformats.org/drawingml/2006/main" x="888073" y="28636747"/>
          <a:ext xmlns:a="http://schemas.openxmlformats.org/drawingml/2006/main" cx="13583479" cy="524704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29c52f3c0f43c8"/>
          </a:graphicData>
        </a:graphic>
      </p:graphicFrame>
      <p:sp>
        <p:nvSpPr>
          <p:cNvPr id="223" name="Percent; expanded 98.8–100 axis. Historical clean test: 3,998 URLs.">
            <a:extLst xmlns:a="http://schemas.openxmlformats.org/drawingml/2006/main">
              <a:ext uri="{FF2B5EF4-FFF2-40B4-BE49-F238E27FC236}">
                <a16:creationId xmlns:a16="http://schemas.microsoft.com/office/drawing/2014/main" id="{A31D522C-31E9-4125-A7CA-2497F28B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23" y="33782885"/>
            <a:ext cx="13321094" cy="38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73" b="0">
                <a:solidFill>
                  <a:srgbClr val="4B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273" b="0">
                <a:solidFill>
                  <a:srgbClr val="4B6173"/>
                </a:solidFill>
                <a:latin typeface="Arial"/>
                <a:ea typeface="Arial"/>
                <a:cs typeface="Arial"/>
              </a:defRPr>
            </a:pPr>
            <a:r>
              <a:rPr sz="2273" b="0">
                <a:solidFill>
                  <a:srgbClr val="4B6173"/>
                </a:solidFill>
                <a:latin typeface="Arial"/>
                <a:ea typeface="Arial"/>
                <a:cs typeface="Arial"/>
              </a:rPr>
              <a:t>Percent; expanded 98.8–100 axis. Historical clean test: 3,998 URLs.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DB805C2-7D1C-42EE-A7E7-B325BAD8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9" y="34347951"/>
            <a:ext cx="3209173" cy="1130132"/>
          </a:xfrm>
          <a:prstGeom xmlns:a="http://schemas.openxmlformats.org/drawingml/2006/main" prst="roundRect">
            <a:avLst>
              <a:gd name="adj" fmla="val 893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6147">
            <a:solidFill>
              <a:srgbClr val="D5E1E9"/>
            </a:solidFill>
            <a:prstDash val="solid"/>
          </a:ln>
        </p:spPr>
      </p:sp>
      <p:sp>
        <p:nvSpPr>
          <p:cNvPr id="225" name="100%">
            <a:extLst xmlns:a="http://schemas.openxmlformats.org/drawingml/2006/main">
              <a:ext uri="{FF2B5EF4-FFF2-40B4-BE49-F238E27FC236}">
                <a16:creationId xmlns:a16="http://schemas.microsoft.com/office/drawing/2014/main" id="{0BD81401-2DED-4BAC-B42C-7F9B4EB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23" y="34428675"/>
            <a:ext cx="3047705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291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4291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pPr>
            <a:r>
              <a:rPr sz="4291" b="1">
                <a:solidFill>
                  <a:srgbClr val="0078B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26" name="Original precision">
            <a:extLst xmlns:a="http://schemas.openxmlformats.org/drawingml/2006/main">
              <a:ext uri="{FF2B5EF4-FFF2-40B4-BE49-F238E27FC236}">
                <a16:creationId xmlns:a16="http://schemas.microsoft.com/office/drawing/2014/main" id="{79ED711D-3F41-4E85-836C-2F7A0E2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23" y="35034103"/>
            <a:ext cx="3047705" cy="36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93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93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193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Original precision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2F354A2-C26F-4E48-8D52-909F940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080" y="34347951"/>
            <a:ext cx="3209173" cy="1130132"/>
          </a:xfrm>
          <a:prstGeom xmlns:a="http://schemas.openxmlformats.org/drawingml/2006/main" prst="roundRect">
            <a:avLst>
              <a:gd name="adj" fmla="val 893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6147">
            <a:solidFill>
              <a:srgbClr val="D5E1E9"/>
            </a:solidFill>
            <a:prstDash val="solid"/>
          </a:ln>
        </p:spPr>
      </p:sp>
      <p:sp>
        <p:nvSpPr>
          <p:cNvPr id="228" name="0">
            <a:extLst xmlns:a="http://schemas.openxmlformats.org/drawingml/2006/main">
              <a:ext uri="{FF2B5EF4-FFF2-40B4-BE49-F238E27FC236}">
                <a16:creationId xmlns:a16="http://schemas.microsoft.com/office/drawing/2014/main" id="{859160C7-67C9-4858-884F-53F4BBE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814" y="34428675"/>
            <a:ext cx="3047705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291" b="1">
                <a:solidFill>
                  <a:srgbClr val="008A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4291" b="1">
                <a:solidFill>
                  <a:srgbClr val="008A75"/>
                </a:solidFill>
                <a:latin typeface="Arial"/>
                <a:ea typeface="Arial"/>
                <a:cs typeface="Arial"/>
              </a:defRPr>
            </a:pPr>
            <a:r>
              <a:rPr sz="4291" b="1">
                <a:solidFill>
                  <a:srgbClr val="008A7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9" name="Domain overlap">
            <a:extLst xmlns:a="http://schemas.openxmlformats.org/drawingml/2006/main">
              <a:ext uri="{FF2B5EF4-FFF2-40B4-BE49-F238E27FC236}">
                <a16:creationId xmlns:a16="http://schemas.microsoft.com/office/drawing/2014/main" id="{9FD2CF86-014A-4E99-9170-94AA355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814" y="35034103"/>
            <a:ext cx="3047705" cy="36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Historical overlap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9462A71-B5E3-40F4-8970-491F64A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271" y="34347951"/>
            <a:ext cx="3209173" cy="1130132"/>
          </a:xfrm>
          <a:prstGeom xmlns:a="http://schemas.openxmlformats.org/drawingml/2006/main" prst="roundRect">
            <a:avLst>
              <a:gd name="adj" fmla="val 893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6147">
            <a:solidFill>
              <a:srgbClr val="D5E1E9"/>
            </a:solidFill>
            <a:prstDash val="solid"/>
          </a:ln>
        </p:spPr>
      </p:sp>
      <p:sp>
        <p:nvSpPr>
          <p:cNvPr id="231" name="37 → 17">
            <a:extLst xmlns:a="http://schemas.openxmlformats.org/drawingml/2006/main">
              <a:ext uri="{FF2B5EF4-FFF2-40B4-BE49-F238E27FC236}">
                <a16:creationId xmlns:a16="http://schemas.microsoft.com/office/drawing/2014/main" id="{EE0FA29B-A3E1-401C-A50B-BC3275D7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005" y="34428675"/>
            <a:ext cx="3047705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291" b="1">
                <a:solidFill>
                  <a:srgbClr val="D87A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4291" b="1">
                <a:solidFill>
                  <a:srgbClr val="D87A16"/>
                </a:solidFill>
                <a:latin typeface="Arial"/>
                <a:ea typeface="Arial"/>
                <a:cs typeface="Arial"/>
              </a:defRPr>
            </a:pPr>
            <a:r>
              <a:rPr sz="4291" b="1">
                <a:solidFill>
                  <a:srgbClr val="D87A16"/>
                </a:solidFill>
                <a:latin typeface="Arial"/>
                <a:ea typeface="Arial"/>
                <a:cs typeface="Arial"/>
              </a:rPr>
              <a:t>37 → 17</a:t>
            </a:r>
          </a:p>
        </p:txBody>
      </p:sp>
      <p:sp>
        <p:nvSpPr>
          <p:cNvPr id="232" name="Adversarial misses">
            <a:extLst xmlns:a="http://schemas.openxmlformats.org/drawingml/2006/main">
              <a:ext uri="{FF2B5EF4-FFF2-40B4-BE49-F238E27FC236}">
                <a16:creationId xmlns:a16="http://schemas.microsoft.com/office/drawing/2014/main" id="{4E9563DE-7F60-4D0B-B09F-279B2D6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005" y="35034103"/>
            <a:ext cx="3047705" cy="36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93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93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193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Adversarial misses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DB23E6E-5261-4E44-8C33-66D1C041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462" y="34347951"/>
            <a:ext cx="3209173" cy="1130132"/>
          </a:xfrm>
          <a:prstGeom xmlns:a="http://schemas.openxmlformats.org/drawingml/2006/main" prst="roundRect">
            <a:avLst>
              <a:gd name="adj" fmla="val 893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16147">
            <a:solidFill>
              <a:srgbClr val="D5E1E9"/>
            </a:solidFill>
            <a:prstDash val="solid"/>
          </a:ln>
        </p:spPr>
      </p:sp>
      <p:sp>
        <p:nvSpPr>
          <p:cNvPr id="234" name="48 passed*">
            <a:extLst xmlns:a="http://schemas.openxmlformats.org/drawingml/2006/main">
              <a:ext uri="{FF2B5EF4-FFF2-40B4-BE49-F238E27FC236}">
                <a16:creationId xmlns:a16="http://schemas.microsoft.com/office/drawing/2014/main" id="{A4C803D9-0BE2-4F06-A152-7B09D747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196" y="34428675"/>
            <a:ext cx="3047705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91 passed</a:t>
            </a:r>
          </a:p>
        </p:txBody>
      </p:sp>
      <p:sp>
        <p:nvSpPr>
          <p:cNvPr id="235" name="Recorded tests">
            <a:extLst xmlns:a="http://schemas.openxmlformats.org/drawingml/2006/main">
              <a:ext uri="{FF2B5EF4-FFF2-40B4-BE49-F238E27FC236}">
                <a16:creationId xmlns:a16="http://schemas.microsoft.com/office/drawing/2014/main" id="{DB5A05D9-D635-421F-A902-1A160AD4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196" y="35034103"/>
            <a:ext cx="3047705" cy="36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Production tests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59C16EB-63B7-45B3-A3D4-9A92A6DA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28434937"/>
            <a:ext cx="14491735" cy="7265137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5DC5026-BC96-493F-ABD1-78E98C41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28434937"/>
            <a:ext cx="14491735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238" name="Adversarial Results">
            <a:extLst xmlns:a="http://schemas.openxmlformats.org/drawingml/2006/main">
              <a:ext uri="{FF2B5EF4-FFF2-40B4-BE49-F238E27FC236}">
                <a16:creationId xmlns:a16="http://schemas.microsoft.com/office/drawing/2014/main" id="{3D509BCE-8361-4DD3-B7ED-F95D9364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542" y="28475299"/>
            <a:ext cx="14007332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Production vs Research Candidate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D117A1B-EC46-4782-9B5A-9A77A6D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35982607"/>
            <a:ext cx="14209167" cy="5569938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FF9555C-34F6-4D8C-B8D1-73100DB1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7" y="35982607"/>
            <a:ext cx="14209167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248" name="Reference Study and Our Results">
            <a:extLst xmlns:a="http://schemas.openxmlformats.org/drawingml/2006/main">
              <a:ext uri="{FF2B5EF4-FFF2-40B4-BE49-F238E27FC236}">
                <a16:creationId xmlns:a16="http://schemas.microsoft.com/office/drawing/2014/main" id="{E34E86FB-38DE-4DBC-82BB-F097F21B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" y="36022969"/>
            <a:ext cx="13724763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ctr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Historical Reference and Reproduction</a:t>
            </a:r>
          </a:p>
        </p:txBody>
      </p:sp>
      <p:graphicFrame>
        <p:nvGraphicFrame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3179005-B3F4-404A-A744-B66AC293E1A1}"/>
              </a:ext>
            </a:extLst>
          </p:cNvPr>
          <p:cNvGraphicFramePr/>
          <p:nvPr/>
        </p:nvGraphicFramePr>
        <p:xfrm>
          <a:off xmlns:a="http://schemas.openxmlformats.org/drawingml/2006/main" x="867889" y="37052197"/>
          <a:ext xmlns:a="http://schemas.openxmlformats.org/drawingml/2006/main" cx="13603662" cy="28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93576"/>
                <a:gridCol w="1655045"/>
                <a:gridCol w="2078898"/>
                <a:gridCol w="2078898"/>
                <a:gridCol w="1998164"/>
                <a:gridCol w="2099081"/>
              </a:tblGrid>
              <a:tr h="701287">
                <a:tc>
                  <a:txBody>
                    <a:bodyPr lIns="100917" tIns="100917" rIns="100917" bIns="100917"/>
                    <a:lstStyle/>
                    <a:p>
                      <a:pPr algn="l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 / model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URLs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solidFill>
                      <a:srgbClr val="102F59"/>
                    </a:solidFill>
                  </a:tcPr>
                </a:tc>
              </a:tr>
              <a:tr h="701287">
                <a:tc>
                  <a:txBody>
                    <a:bodyPr lIns="100917" tIns="100917" rIns="100917" bIns="100917"/>
                    <a:lstStyle/>
                    <a:p>
                      <a:pPr algn="l">
                        <a:buNone/>
                      </a:pPr>
                      <a:r>
                        <a:rPr sz="2543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Reference study [1]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99,361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99.819%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99.635%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99.947%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701287">
                <a:tc>
                  <a:txBody>
                    <a:bodyPr lIns="100917" tIns="100917" rIns="100917" bIns="100917"/>
                    <a:lstStyle/>
                    <a:p>
                      <a:pPr algn="l">
                        <a:buNone/>
                      </a:pPr>
                      <a:r>
                        <a:rPr sz="2543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Our reproduction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99.525%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99.048%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0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99.931%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287">
                <a:tc>
                  <a:txBody>
                    <a:bodyPr lIns="100917" tIns="100917" rIns="100917" bIns="100917"/>
                    <a:lstStyle/>
                    <a:p>
                      <a:pPr algn="l">
                        <a:buNone/>
                      </a:pPr>
                      <a:r>
                        <a:rPr sz="2543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Our robust candidate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20,000*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99.625%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99.950%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99.298%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lIns="100917" tIns="100917" rIns="100917" bIns="100917"/>
                    <a:lstStyle/>
                    <a:p>
                      <a:pPr algn="ctr">
                        <a:buNone/>
                      </a:pPr>
                      <a:r>
                        <a:rPr sz="2575" b="1">
                          <a:solidFill>
                            <a:srgbClr val="23364B"/>
                          </a:solidFill>
                          <a:latin typeface="Arial"/>
                          <a:ea typeface="Arial"/>
                          <a:cs typeface="Arial"/>
                        </a:rPr>
                        <a:t>99.945%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</a:tbl>
          </a:graphicData>
        </a:graphic>
      </p:graphicFrame>
      <p:sp>
        <p:nvSpPr>
          <p:cNvPr id="250" name="*20,000 base URLs + 1,751 train-only mutations. Different study protocols.">
            <a:extLst xmlns:a="http://schemas.openxmlformats.org/drawingml/2006/main">
              <a:ext uri="{FF2B5EF4-FFF2-40B4-BE49-F238E27FC236}">
                <a16:creationId xmlns:a16="http://schemas.microsoft.com/office/drawing/2014/main" id="{BFDC43B9-26C2-40FB-AC20-2851F997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39958251"/>
            <a:ext cx="13543112" cy="36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41" b="0">
                <a:solidFill>
                  <a:srgbClr val="4B61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241" b="0">
                <a:solidFill>
                  <a:srgbClr val="4B6173"/>
                </a:solidFill>
                <a:latin typeface="Arial"/>
                <a:ea typeface="Arial"/>
                <a:cs typeface="Arial"/>
              </a:defRPr>
            </a:pPr>
            <a:r>
              <a:rPr sz="2241" b="0">
                <a:solidFill>
                  <a:srgbClr val="4B6173"/>
                </a:solidFill>
                <a:latin typeface="Arial"/>
                <a:ea typeface="Arial"/>
                <a:cs typeface="Arial"/>
              </a:rPr>
              <a:t>*20,000 base URLs + 1,751 train-only mutations. Different study protocols.</a:t>
            </a:r>
          </a:p>
        </p:txBody>
      </p:sp>
      <p:sp>
        <p:nvSpPr>
          <p:cNvPr id="251" name="Current V2 (35/65): 97.274% clean accuracy; 95.639% recall.">
            <a:extLst xmlns:a="http://schemas.openxmlformats.org/drawingml/2006/main">
              <a:ext uri="{FF2B5EF4-FFF2-40B4-BE49-F238E27FC236}">
                <a16:creationId xmlns:a16="http://schemas.microsoft.com/office/drawing/2014/main" id="{DF20AEEA-B845-450B-919B-08EB066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40422413"/>
            <a:ext cx="13543112" cy="403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Current v3.3: 91.740% external accuracy; 91.277% recall.</a:t>
            </a:r>
          </a:p>
        </p:txBody>
      </p:sp>
      <p:sp>
        <p:nvSpPr>
          <p:cNvPr id="252" name="Production preprocessing differs. Hard benign paths: 10/20 false positives.&#10;*48 ">
            <a:extLst xmlns:a="http://schemas.openxmlformats.org/drawingml/2006/main">
              <a:ext uri="{FF2B5EF4-FFF2-40B4-BE49-F238E27FC236}">
                <a16:creationId xmlns:a16="http://schemas.microsoft.com/office/drawing/2014/main" id="{BE962CD3-BB79-4FA1-BD0B-40CCDC40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56" y="40926936"/>
            <a:ext cx="13543112" cy="544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External snapshot: 11,271 API-compatible rows, previously inspected.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75" b="0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43"/>
                </a:solidFill>
                <a:latin typeface="Arial"/>
                <a:ea typeface="Arial"/>
                <a:cs typeface="Arial"/>
              </a:rPr>
              <a:t>91 production-source tests passed; research-branch tests are separate.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6D508E0-A7D7-4253-9951-933AD7D2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35982607"/>
            <a:ext cx="8678894" cy="5569938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BFF170D-94B2-4E74-9F39-46CA17FA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340" y="35982607"/>
            <a:ext cx="8678894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255" name="References">
            <a:extLst xmlns:a="http://schemas.openxmlformats.org/drawingml/2006/main">
              <a:ext uri="{FF2B5EF4-FFF2-40B4-BE49-F238E27FC236}">
                <a16:creationId xmlns:a16="http://schemas.microsoft.com/office/drawing/2014/main" id="{DD79F30D-6FDC-4F60-81CA-91D1CF4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542" y="36022969"/>
            <a:ext cx="8194491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56" name="[1] R. Dubey, A. M. Tripathi, A. Srivastava &amp; S. Singh. “Phishing Detection Syst">
            <a:extLst xmlns:a="http://schemas.openxmlformats.org/drawingml/2006/main">
              <a:ext uri="{FF2B5EF4-FFF2-40B4-BE49-F238E27FC236}">
                <a16:creationId xmlns:a16="http://schemas.microsoft.com/office/drawing/2014/main" id="{C2F100BC-27B8-48B3-AEAD-35C90EB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0909" y="37032016"/>
            <a:ext cx="8113757" cy="4258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[1] R. Dubey, A. M. Tripathi, A. Srivastava &amp; S. Singh. “Phishing Detection System: An Ensemble Approach Using Character-Level CNN and Feature Engineering.” arXiv:2512.16717, 2025.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[2] PhishTank. Valid Phishing URLs. phishtank.org.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[3] Tranco. Top 1M List. tranco-list.eu.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[4] H. Le et al. “URLNet.” arXiv:1802.03162, 2018.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[5] P. Yang, G. Zhao &amp; P. Zeng. “Phishing Website Detection Based on Multidimensional Features Driven by Deep Learning.” IEEE Access 7, 2019.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[6] S. Garera et al. “A Framework for Detection and Measurement of Phishing Attacks.” ACM WORM, 2007.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DF0F9778-B5C1-44D2-869F-D31AAEA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803" y="35982607"/>
            <a:ext cx="5530272" cy="5569938"/>
          </a:xfrm>
          <a:prstGeom xmlns:a="http://schemas.openxmlformats.org/drawingml/2006/main" prst="roundRect">
            <a:avLst>
              <a:gd name="adj" fmla="val 1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3">
            <a:solidFill>
              <a:srgbClr val="CBD7E1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1268A90-E26B-4C67-88CC-9ED74FC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803" y="35982607"/>
            <a:ext cx="5530272" cy="787056"/>
          </a:xfrm>
          <a:prstGeom xmlns:a="http://schemas.openxmlformats.org/drawingml/2006/main" prst="roundRect">
            <a:avLst>
              <a:gd name="adj" fmla="val 7693"/>
            </a:avLst>
          </a:prstGeom>
          <a:solidFill xmlns:a="http://schemas.openxmlformats.org/drawingml/2006/main">
            <a:srgbClr val="C90018"/>
          </a:solidFill>
          <a:ln xmlns:a="http://schemas.openxmlformats.org/drawingml/2006/main" w="0">
            <a:solidFill>
              <a:srgbClr val="C90018"/>
            </a:solidFill>
            <a:prstDash val="solid"/>
          </a:ln>
        </p:spPr>
      </p:sp>
      <p:sp>
        <p:nvSpPr>
          <p:cNvPr id="259" name="Team Details">
            <a:extLst xmlns:a="http://schemas.openxmlformats.org/drawingml/2006/main">
              <a:ext uri="{FF2B5EF4-FFF2-40B4-BE49-F238E27FC236}">
                <a16:creationId xmlns:a16="http://schemas.microsoft.com/office/drawing/2014/main" id="{AC6ABB42-D93F-4FEF-AA4C-F2B52E2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005" y="36022969"/>
            <a:ext cx="5045869" cy="706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381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1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Details</a:t>
            </a:r>
          </a:p>
        </p:txBody>
      </p:sp>
      <p:sp>
        <p:nvSpPr>
          <p:cNvPr id="260" name="Guide">
            <a:extLst xmlns:a="http://schemas.openxmlformats.org/drawingml/2006/main">
              <a:ext uri="{FF2B5EF4-FFF2-40B4-BE49-F238E27FC236}">
                <a16:creationId xmlns:a16="http://schemas.microsoft.com/office/drawing/2014/main" id="{7C5FE776-71C5-487D-A33B-9512D83F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556" y="37052197"/>
            <a:ext cx="4924768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940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261" name="Dr. K Venkateshwara Rao">
            <a:extLst xmlns:a="http://schemas.openxmlformats.org/drawingml/2006/main">
              <a:ext uri="{FF2B5EF4-FFF2-40B4-BE49-F238E27FC236}">
                <a16:creationId xmlns:a16="http://schemas.microsoft.com/office/drawing/2014/main" id="{DAF48202-DDEA-456D-B126-B576A35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556" y="37576901"/>
            <a:ext cx="4924768" cy="484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81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81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781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Dr. K Venkateshwara Rao</a:t>
            </a:r>
          </a:p>
        </p:txBody>
      </p:sp>
      <p:sp>
        <p:nvSpPr>
          <p:cNvPr id="262" name="Team Members">
            <a:extLst xmlns:a="http://schemas.openxmlformats.org/drawingml/2006/main">
              <a:ext uri="{FF2B5EF4-FFF2-40B4-BE49-F238E27FC236}">
                <a16:creationId xmlns:a16="http://schemas.microsoft.com/office/drawing/2014/main" id="{3C0FF3F8-E547-4070-9A8A-1370C299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556" y="38283234"/>
            <a:ext cx="4924768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40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2940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263" name="2320090017  —  D Sunidhi&#10;2320090060  —  P Manvitha&#10;2320090069  —  G Likith">
            <a:extLst xmlns:a="http://schemas.openxmlformats.org/drawingml/2006/main">
              <a:ext uri="{FF2B5EF4-FFF2-40B4-BE49-F238E27FC236}">
                <a16:creationId xmlns:a16="http://schemas.microsoft.com/office/drawing/2014/main" id="{0C5C66B3-DCC6-4A63-BD3E-91CD26E8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556" y="38908843"/>
            <a:ext cx="4924768" cy="1634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49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749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749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2320090017  —  D Sunidhi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749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749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2320090060  —  P Manvitha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749" b="0">
                <a:solidFill>
                  <a:srgbClr val="23364B"/>
                </a:solidFill>
                <a:latin typeface="Arial"/>
                <a:ea typeface="Arial"/>
                <a:cs typeface="Arial"/>
              </a:defRPr>
            </a:pPr>
            <a:r>
              <a:rPr sz="2749" b="0">
                <a:solidFill>
                  <a:srgbClr val="23364B"/>
                </a:solidFill>
                <a:latin typeface="Arial"/>
                <a:ea typeface="Arial"/>
                <a:cs typeface="Arial"/>
              </a:rPr>
              <a:t>2320090069  —  G Likith</a:t>
            </a:r>
          </a:p>
        </p:txBody>
      </p:sp>
      <p:sp>
        <p:nvSpPr>
          <p:cNvPr id="264" name="KLH Bachupally">
            <a:extLst xmlns:a="http://schemas.openxmlformats.org/drawingml/2006/main">
              <a:ext uri="{FF2B5EF4-FFF2-40B4-BE49-F238E27FC236}">
                <a16:creationId xmlns:a16="http://schemas.microsoft.com/office/drawing/2014/main" id="{35FC23BB-D8B2-432D-B35B-3261E6C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2556" y="40886574"/>
            <a:ext cx="4924768" cy="46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40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940" b="1">
                <a:solidFill>
                  <a:srgbClr val="0078B8"/>
                </a:solidFill>
                <a:latin typeface="Arial"/>
                <a:ea typeface="Arial"/>
                <a:cs typeface="Arial"/>
              </a:defRPr>
            </a:pPr>
            <a:r>
              <a:rPr sz="2940" b="1">
                <a:solidFill>
                  <a:srgbClr val="0078B8"/>
                </a:solidFill>
                <a:latin typeface="Arial"/>
                <a:ea typeface="Arial"/>
                <a:cs typeface="Arial"/>
              </a:rPr>
              <a:t>KLH Bachupally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E930DCF-2AA2-45B8-AF47-2B2BA68A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875440"/>
            <a:ext cx="30275213" cy="9283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719"/>
          </a:solidFill>
          <a:ln xmlns:a="http://schemas.openxmlformats.org/drawingml/2006/main" w="0">
            <a:solidFill>
              <a:srgbClr val="FFC719"/>
            </a:solidFill>
            <a:prstDash val="solid"/>
          </a:ln>
        </p:spPr>
      </p:sp>
      <p:sp>
        <p:nvSpPr>
          <p:cNvPr id="266" name="Department of Computer Science and Information Technology">
            <a:extLst xmlns:a="http://schemas.openxmlformats.org/drawingml/2006/main">
              <a:ext uri="{FF2B5EF4-FFF2-40B4-BE49-F238E27FC236}">
                <a16:creationId xmlns:a16="http://schemas.microsoft.com/office/drawing/2014/main" id="{7B402466-26BD-4565-8722-BF231BC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7" y="41996526"/>
            <a:ext cx="29266039" cy="686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132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4132" b="1">
                <a:solidFill>
                  <a:srgbClr val="102F59"/>
                </a:solidFill>
                <a:latin typeface="Arial"/>
                <a:ea typeface="Arial"/>
                <a:cs typeface="Arial"/>
              </a:defRPr>
            </a:pPr>
            <a:r>
              <a:rPr sz="4132" b="1">
                <a:solidFill>
                  <a:srgbClr val="102F59"/>
                </a:solidFill>
                <a:latin typeface="Arial"/>
                <a:ea typeface="Arial"/>
                <a:cs typeface="Arial"/>
              </a:rPr>
              <a:t>Department of Computer Science and Information Technology</a:t>
            </a:r>
          </a:p>
        </p:txBody>
      </p:sp>
      <p:sp>
        <p:nvSpPr>
          <p:cNvPr id="268" name="URL String and Shared Canonicalization&#10;Trim spaces; normalize scheme/h">
            <a:extLst xmlns:a="http://schemas.openxmlformats.org/drawingml/2006/main">
              <a:ext uri="{FF2B5EF4-FFF2-40B4-BE49-F238E27FC236}">
                <a16:creationId xmlns:a16="http://schemas.microsoft.com/office/drawing/2014/main" id="{3FF0E7FB-70FD-428B-AD63-263D974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8096250"/>
            <a:ext cx="126777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F9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URL String and Shared Canonicalization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Trim spaces; normalize scheme/host; equate root slash only</a:t>
            </a:r>
          </a:p>
        </p:txBody>
      </p:sp>
      <p:sp>
        <p:nvSpPr>
          <p:cNvPr id="269" name="Character Encoding and Embedding&#10;First 256 characters; 97 indices; emb">
            <a:extLst xmlns:a="http://schemas.openxmlformats.org/drawingml/2006/main">
              <a:ext uri="{FF2B5EF4-FFF2-40B4-BE49-F238E27FC236}">
                <a16:creationId xmlns:a16="http://schemas.microsoft.com/office/drawing/2014/main" id="{86F2F16F-F4B5-4663-8386-24DEBE0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10048875"/>
            <a:ext cx="126777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4F8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Character Encoding and Embedding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First 256 characters; 97 indices; embedding dimension 64</a:t>
            </a:r>
          </a:p>
        </p:txBody>
      </p:sp>
      <p:sp>
        <p:nvSpPr>
          <p:cNvPr id="270" name="Parallel CharCNN: Kernels 3 / 5 / 7, 128 Channels Each&#10;BatchNorm + ReL">
            <a:extLst xmlns:a="http://schemas.openxmlformats.org/drawingml/2006/main">
              <a:ext uri="{FF2B5EF4-FFF2-40B4-BE49-F238E27FC236}">
                <a16:creationId xmlns:a16="http://schemas.microsoft.com/office/drawing/2014/main" id="{9399E7DD-EA94-4954-8859-12300E6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12001500"/>
            <a:ext cx="126777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4F8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Parallel CharCNN: Kernels 3 / 5 / 7, 128 Channels Each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BatchNorm + ReLU; MaxPool(2) gives 128 time steps</a:t>
            </a:r>
          </a:p>
        </p:txBody>
      </p:sp>
      <p:sp>
        <p:nvSpPr>
          <p:cNvPr id="271" name="Two-Layer Bidirectional LSTM&#10;Input 384; hidden 128 per direction; recu">
            <a:extLst xmlns:a="http://schemas.openxmlformats.org/drawingml/2006/main">
              <a:ext uri="{FF2B5EF4-FFF2-40B4-BE49-F238E27FC236}">
                <a16:creationId xmlns:a16="http://schemas.microsoft.com/office/drawing/2014/main" id="{5C65FD21-AFCF-4EDB-AF03-220DC8B9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14049375"/>
            <a:ext cx="126777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E9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Two-Layer Bidirectional LSTM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Input 384; hidden 128 per direction; recurrent dropout 0.2</a:t>
            </a:r>
          </a:p>
        </p:txBody>
      </p:sp>
      <p:sp>
        <p:nvSpPr>
          <p:cNvPr id="272" name="Additive Attention + Temporal Max Pool&#10;512 values; dense head 128 -&gt; 3">
            <a:extLst xmlns:a="http://schemas.openxmlformats.org/drawingml/2006/main">
              <a:ext uri="{FF2B5EF4-FFF2-40B4-BE49-F238E27FC236}">
                <a16:creationId xmlns:a16="http://schemas.microsoft.com/office/drawing/2014/main" id="{0FCBECFC-6CB4-4072-9CD8-D6275FF5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16097250"/>
            <a:ext cx="126777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F7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Additive Attention + Temporal Max Pool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512 values; dense head 128 -&gt; 32 -&gt; 1</a:t>
            </a:r>
          </a:p>
        </p:txBody>
      </p:sp>
      <p:sp>
        <p:nvSpPr>
          <p:cNvPr id="273" name="Sigmoid and Fixed Threshold 0.5&#10;v3.3 deployed; v3.4 research candidate">
            <a:extLst xmlns:a="http://schemas.openxmlformats.org/drawingml/2006/main">
              <a:ext uri="{FF2B5EF4-FFF2-40B4-BE49-F238E27FC236}">
                <a16:creationId xmlns:a16="http://schemas.microsoft.com/office/drawing/2014/main" id="{17083BD5-2791-4DD5-8B65-DD5416F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825" y="18192750"/>
            <a:ext cx="126777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8"/>
          </a:solidFill>
          <a:ln xmlns:a="http://schemas.openxmlformats.org/drawingml/2006/main" w="19050">
            <a:solidFill>
              <a:srgbClr val="A8C1C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Sigmoid and Fixed Threshold 0.5</a:t>
            </a:r>
          </a:p>
          <a:p xmlns:a="http://schemas.openxmlformats.org/drawingml/2006/main">
            <a:pPr algn="ctr">
              <a:defRPr sz="29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v3.3 deployed; v3.4 research candidate NOT promoted</a:t>
            </a:r>
          </a:p>
        </p:txBody>
      </p:sp>
      <p:sp>
        <p:nvSpPr>
          <p:cNvPr id="274" name="Flow arrow 1">
            <a:extLst xmlns:a="http://schemas.openxmlformats.org/drawingml/2006/main">
              <a:ext uri="{FF2B5EF4-FFF2-40B4-BE49-F238E27FC236}">
                <a16:creationId xmlns:a16="http://schemas.microsoft.com/office/drawing/2014/main" id="{BF6C3489-B850-4473-B687-9697563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313" y="9544050"/>
            <a:ext cx="3048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617B"/>
          </a:solidFill>
          <a:ln xmlns:a="http://schemas.openxmlformats.org/drawingml/2006/main" w="9525">
            <a:solidFill>
              <a:srgbClr val="2C617B"/>
            </a:solidFill>
            <a:prstDash val="solid"/>
          </a:ln>
        </p:spPr>
      </p:sp>
      <p:sp>
        <p:nvSpPr>
          <p:cNvPr id="275" name="Flow arrow 2">
            <a:extLst xmlns:a="http://schemas.openxmlformats.org/drawingml/2006/main">
              <a:ext uri="{FF2B5EF4-FFF2-40B4-BE49-F238E27FC236}">
                <a16:creationId xmlns:a16="http://schemas.microsoft.com/office/drawing/2014/main" id="{00C9344F-37D4-410E-87FB-3C82C42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313" y="11496675"/>
            <a:ext cx="3048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617B"/>
          </a:solidFill>
          <a:ln xmlns:a="http://schemas.openxmlformats.org/drawingml/2006/main" w="9525">
            <a:solidFill>
              <a:srgbClr val="2C617B"/>
            </a:solidFill>
            <a:prstDash val="solid"/>
          </a:ln>
        </p:spPr>
      </p:sp>
      <p:sp>
        <p:nvSpPr>
          <p:cNvPr id="276" name="Flow arrow 3">
            <a:extLst xmlns:a="http://schemas.openxmlformats.org/drawingml/2006/main">
              <a:ext uri="{FF2B5EF4-FFF2-40B4-BE49-F238E27FC236}">
                <a16:creationId xmlns:a16="http://schemas.microsoft.com/office/drawing/2014/main" id="{6CA0479B-A2A5-4AE9-993C-329A804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313" y="13544550"/>
            <a:ext cx="3048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617B"/>
          </a:solidFill>
          <a:ln xmlns:a="http://schemas.openxmlformats.org/drawingml/2006/main" w="9525">
            <a:solidFill>
              <a:srgbClr val="2C617B"/>
            </a:solidFill>
            <a:prstDash val="solid"/>
          </a:ln>
        </p:spPr>
      </p:sp>
      <p:sp>
        <p:nvSpPr>
          <p:cNvPr id="277" name="Flow arrow 4">
            <a:extLst xmlns:a="http://schemas.openxmlformats.org/drawingml/2006/main">
              <a:ext uri="{FF2B5EF4-FFF2-40B4-BE49-F238E27FC236}">
                <a16:creationId xmlns:a16="http://schemas.microsoft.com/office/drawing/2014/main" id="{730C2770-9CAD-49D4-8EE4-85D4C105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313" y="15592425"/>
            <a:ext cx="3048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617B"/>
          </a:solidFill>
          <a:ln xmlns:a="http://schemas.openxmlformats.org/drawingml/2006/main" w="9525">
            <a:solidFill>
              <a:srgbClr val="2C617B"/>
            </a:solidFill>
            <a:prstDash val="solid"/>
          </a:ln>
        </p:spPr>
      </p:sp>
      <p:sp>
        <p:nvSpPr>
          <p:cNvPr id="278" name="Flow arrow 5">
            <a:extLst xmlns:a="http://schemas.openxmlformats.org/drawingml/2006/main">
              <a:ext uri="{FF2B5EF4-FFF2-40B4-BE49-F238E27FC236}">
                <a16:creationId xmlns:a16="http://schemas.microsoft.com/office/drawing/2014/main" id="{280F0E56-F3A3-47A3-A961-ABBF120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313" y="17640300"/>
            <a:ext cx="304800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C617B"/>
          </a:solidFill>
          <a:ln xmlns:a="http://schemas.openxmlformats.org/drawingml/2006/main" w="9525">
            <a:solidFill>
              <a:srgbClr val="2C617B"/>
            </a:solidFill>
            <a:prstDash val="solid"/>
          </a:ln>
        </p:spPr>
      </p:sp>
      <p:sp>
        <p:nvSpPr>
          <p:cNvPr id="279" name="Legacy CNN-LightGBM ensemble scores remain reference-only.">
            <a:extLst xmlns:a="http://schemas.openxmlformats.org/drawingml/2006/main">
              <a:ext uri="{FF2B5EF4-FFF2-40B4-BE49-F238E27FC236}">
                <a16:creationId xmlns:a16="http://schemas.microsoft.com/office/drawing/2014/main" id="{51D55331-A7D2-4C7E-BB60-673DE810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90725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75">
                <a:solidFill>
                  <a:srgbClr val="425C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>
                <a:solidFill>
                  <a:srgbClr val="425C6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425C6A"/>
                </a:solidFill>
                <a:latin typeface="Arial"/>
                <a:ea typeface="Arial"/>
                <a:cs typeface="Arial"/>
              </a:rPr>
              <a:t>Legacy CNN-LightGBM ensemble scores remain reference-only.</a:t>
            </a:r>
          </a:p>
        </p:txBody>
      </p:sp>
      <p:sp>
        <p:nvSpPr>
          <p:cNvPr id="280" name="External snapshot: same 11,271 inputs; different training histories">
            <a:extLst xmlns:a="http://schemas.openxmlformats.org/drawingml/2006/main">
              <a:ext uri="{FF2B5EF4-FFF2-40B4-BE49-F238E27FC236}">
                <a16:creationId xmlns:a16="http://schemas.microsoft.com/office/drawing/2014/main" id="{10F98417-C9F8-4386-877B-041EA3B8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9432250"/>
            <a:ext cx="1362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5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External snapshot: same 11,271 inputs; different training histories</a:t>
            </a:r>
          </a:p>
        </p:txBody>
      </p:sp>
      <p:graphicFrame>
        <p:nvGraphicFramePr>
          <p:cNvPr id="281" name="Chart">
            <a:extLst xmlns:a="http://schemas.openxmlformats.org/drawingml/2006/main">
              <a:ext uri="{FF2B5EF4-FFF2-40B4-BE49-F238E27FC236}">
                <a16:creationId xmlns:a16="http://schemas.microsoft.com/office/drawing/2014/main" id="{2BDC7BA2-98A3-46AB-AD14-936EE651E7C3}"/>
              </a:ext>
            </a:extLst>
          </p:cNvPr>
          <p:cNvGraphicFramePr/>
          <p:nvPr/>
        </p:nvGraphicFramePr>
        <p:xfrm>
          <a:off xmlns:a="http://schemas.openxmlformats.org/drawingml/2006/main" x="15763875" y="30194250"/>
          <a:ext xmlns:a="http://schemas.openxmlformats.org/drawingml/2006/main" cx="13239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567d1372714ebd"/>
          </a:graphicData>
        </a:graphic>
      </p:graphicFrame>
      <p:sp>
        <p:nvSpPr>
          <p:cNvPr id="282" name="Domain-Separated Research Candidate v3.4&#10;Own test: 92.876% accuracy / ">
            <a:extLst xmlns:a="http://schemas.openxmlformats.org/drawingml/2006/main">
              <a:ext uri="{FF2B5EF4-FFF2-40B4-BE49-F238E27FC236}">
                <a16:creationId xmlns:a16="http://schemas.microsoft.com/office/drawing/2014/main" id="{E7565471-733C-41C9-A4B1-B8F2C82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3147000"/>
            <a:ext cx="1343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9050">
            <a:solidFill>
              <a:srgbClr val="DFCFAA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6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Domain-Separated Research Candidate v3.4</a:t>
            </a:r>
          </a:p>
          <a:p xmlns:a="http://schemas.openxmlformats.org/drawingml/2006/main">
            <a:pPr algn="ctr">
              <a:defRPr sz="26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Own test: 92.876% accuracy / 90.696% recall / 98.289% ROC-AUC</a:t>
            </a:r>
          </a:p>
          <a:p xmlns:a="http://schemas.openxmlformats.org/drawingml/2006/main">
            <a:pPr algn="ctr">
              <a:defRPr sz="26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25,961 train / 6,113 validation / 31,795 test; domain overlap 0 / 0 / 0</a:t>
            </a:r>
          </a:p>
        </p:txBody>
      </p:sp>
      <p:sp>
        <p:nvSpPr>
          <p:cNvPr id="283" name="Promotion gate: FAILED. Production remains v3.3.&#10;Previously inspected ">
            <a:extLst xmlns:a="http://schemas.openxmlformats.org/drawingml/2006/main">
              <a:ext uri="{FF2B5EF4-FFF2-40B4-BE49-F238E27FC236}">
                <a16:creationId xmlns:a16="http://schemas.microsoft.com/office/drawing/2014/main" id="{CD88BBA6-69BC-4549-91D2-6FB7D32B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4671000"/>
            <a:ext cx="1333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00" b="1">
                <a:solidFill>
                  <a:srgbClr val="8B30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8B30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3030"/>
                </a:solidFill>
                <a:latin typeface="Arial"/>
                <a:ea typeface="Arial"/>
                <a:cs typeface="Arial"/>
              </a:rPr>
              <a:t>Promotion gate: FAILED. Production remains v3.3.</a:t>
            </a:r>
          </a:p>
          <a:p xmlns:a="http://schemas.openxmlformats.org/drawingml/2006/main">
            <a:pPr algn="ctr">
              <a:defRPr sz="2400" b="1">
                <a:solidFill>
                  <a:srgbClr val="8B30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3030"/>
                </a:solidFill>
                <a:latin typeface="Arial"/>
                <a:ea typeface="Arial"/>
                <a:cs typeface="Arial"/>
              </a:rPr>
              <a:t>Previously inspected snapshots do not establish blind temporal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13784311"/>
      </p:ext>
    </p:extLst>
  </p:cSld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Yell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2026-10-13T13:50:07.8850000Z</dcterms:created>
  <dcterms:modified xsi:type="dcterms:W3CDTF">2026-10-13T13:50:07.8850000Z</dcterms:modified>
</coreProperties>
</file>